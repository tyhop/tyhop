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23"/>
  </p:notesMasterIdLst>
  <p:sldIdLst>
    <p:sldId id="256" r:id="rId3"/>
    <p:sldId id="257" r:id="rId4"/>
    <p:sldId id="258" r:id="rId5"/>
    <p:sldId id="298" r:id="rId6"/>
    <p:sldId id="262" r:id="rId7"/>
    <p:sldId id="263" r:id="rId8"/>
    <p:sldId id="289" r:id="rId9"/>
    <p:sldId id="264" r:id="rId10"/>
    <p:sldId id="267" r:id="rId11"/>
    <p:sldId id="268" r:id="rId12"/>
    <p:sldId id="305" r:id="rId13"/>
    <p:sldId id="271" r:id="rId14"/>
    <p:sldId id="261" r:id="rId15"/>
    <p:sldId id="294" r:id="rId16"/>
    <p:sldId id="302" r:id="rId17"/>
    <p:sldId id="274" r:id="rId18"/>
    <p:sldId id="278" r:id="rId19"/>
    <p:sldId id="306" r:id="rId20"/>
    <p:sldId id="304" r:id="rId21"/>
    <p:sldId id="282" r:id="rId22"/>
  </p:sldIdLst>
  <p:sldSz cx="12192000" cy="6858000"/>
  <p:notesSz cx="6858000" cy="12192000"/>
  <p:embeddedFontLst>
    <p:embeddedFont>
      <p:font typeface="MiSans" panose="02010600030101010101" charset="-122"/>
      <p:regular r:id="rId24"/>
    </p:embeddedFont>
    <p:embeddedFont>
      <p:font typeface="Noto Sans SC" panose="020B0200000000000000" pitchFamily="34" charset="-122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lein penelope" initials="kp" lastIdx="1" clrIdx="0">
    <p:extLst>
      <p:ext uri="{19B8F6BF-5375-455C-9EA6-DF929625EA0E}">
        <p15:presenceInfo xmlns:p15="http://schemas.microsoft.com/office/powerpoint/2012/main" userId="c04c4e69b7382b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6" y="11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8T09:21:37.908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CAA4-2519-43B2-804B-A2FAAADE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28DA3-E32C-0E13-FDEF-1A4C28311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EC42CE-3D94-C9D7-0E3F-D8E449FAE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C83D6-94CC-0DA1-727F-16D3C155A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9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389A-0981-EEA9-A603-BE9FDF5C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D306E-0983-D177-5A5F-7D82F45F8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E6CCF-2AFB-0A5A-5C42-C20803418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7E880-4D97-24E3-22EF-265B52941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8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4E59D-B667-B436-3039-0BB71ADE2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3A42C-9E7C-12AB-D3FC-DE125066C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9F236-5B29-DFAF-2332-588D8B984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80851-B5C1-A403-70A4-1EF6ECC8C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11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9E327-E316-885E-3F6D-D7D54C871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B0DF4-E694-CDF1-1627-BBD8C9052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7F019-EE5D-A794-3BE9-7E92F14DA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DD930-FB07-F1AB-0B4E-E9F222540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69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AC89-580C-7777-A35A-8E74EE7A3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87CD5-6E3C-B29E-53A7-C2B9FE829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A40A9-7D1E-BE02-04D3-7BA00CC47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15ECF-C36A-D852-806E-299C06B530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71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6.png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19" Type="http://schemas.openxmlformats.org/officeDocument/2006/relationships/image" Target="../media/image5.png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21.xml"/><Relationship Id="rId16" Type="http://schemas.openxmlformats.org/officeDocument/2006/relationships/image" Target="../media/image6.png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image" Target="../media/image5.png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9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7"/>
          <a:srcRect l="2846" t="2254" r="3013" b="8961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75485" y="1663658"/>
            <a:ext cx="7750810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600" b="1" dirty="0" err="1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智慧安检</a:t>
            </a:r>
            <a:r>
              <a:rPr 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          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zh-CN" alt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航班管理系统</a:t>
            </a:r>
            <a:endParaRPr lang="en-US" sz="1600" dirty="0"/>
          </a:p>
        </p:txBody>
      </p:sp>
      <p:sp>
        <p:nvSpPr>
          <p:cNvPr id="4" name="Shape 1"/>
          <p:cNvSpPr/>
          <p:nvPr>
            <p:custDataLst>
              <p:tags r:id="rId1"/>
            </p:custDataLst>
          </p:nvPr>
        </p:nvSpPr>
        <p:spPr>
          <a:xfrm>
            <a:off x="3455670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5" name="Text 2"/>
          <p:cNvSpPr/>
          <p:nvPr/>
        </p:nvSpPr>
        <p:spPr>
          <a:xfrm>
            <a:off x="349059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3455670" y="4476115"/>
            <a:ext cx="238569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 err="1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:  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孙瑞宏</a:t>
            </a: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614616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8" name="Text 5"/>
          <p:cNvSpPr/>
          <p:nvPr/>
        </p:nvSpPr>
        <p:spPr>
          <a:xfrm>
            <a:off x="614616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6111240" y="4476115"/>
            <a:ext cx="238569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</a:t>
            </a:r>
            <a:r>
              <a:rPr lang="en-US" altLang="zh-CN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</a:t>
            </a:r>
            <a:r>
              <a:rPr lang="zh-CN" alt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1" name="Text 8"/>
          <p:cNvSpPr/>
          <p:nvPr/>
        </p:nvSpPr>
        <p:spPr>
          <a:xfrm>
            <a:off x="893745" y="472817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230150" y="156968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9">
            <a:alphaModFix amt="25000"/>
          </a:blip>
          <a:srcRect t="22162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6675" y="0"/>
            <a:ext cx="1946910" cy="193103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0085070" y="39243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小组成员</a:t>
            </a:r>
            <a:r>
              <a:rPr lang="en-US" altLang="zh-CN" dirty="0"/>
              <a:t>:</a:t>
            </a:r>
          </a:p>
          <a:p>
            <a:pPr indent="457200"/>
            <a:r>
              <a:rPr lang="zh-CN" altLang="en-US" dirty="0"/>
              <a:t>孙瑞宏</a:t>
            </a:r>
          </a:p>
          <a:p>
            <a:pPr indent="457200"/>
            <a:r>
              <a:rPr lang="zh-CN" altLang="en-US" dirty="0"/>
              <a:t>武振华</a:t>
            </a:r>
          </a:p>
          <a:p>
            <a:pPr indent="457200"/>
            <a:r>
              <a:rPr lang="zh-CN" altLang="en-US" dirty="0"/>
              <a:t>王洪达</a:t>
            </a:r>
          </a:p>
          <a:p>
            <a:pPr indent="457200"/>
            <a:r>
              <a:rPr lang="zh-CN" altLang="en-US" dirty="0"/>
              <a:t>李雨硕</a:t>
            </a:r>
          </a:p>
          <a:p>
            <a:pPr indent="457200"/>
            <a:r>
              <a:rPr lang="zh-CN" altLang="en-US" dirty="0"/>
              <a:t>徐加雄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235" y="647700"/>
            <a:ext cx="6924675" cy="9220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984885" y="188595"/>
            <a:ext cx="6924675" cy="92202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kern="0" spc="3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r>
              <a:rPr lang="en-US" sz="3200" b="1" kern="0" spc="3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/CONTENTS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18"/>
          <a:srcRect t="22162"/>
          <a:stretch>
            <a:fillRect/>
          </a:stretch>
        </p:blipFill>
        <p:spPr>
          <a:xfrm>
            <a:off x="7494905" y="2658110"/>
            <a:ext cx="4050665" cy="3154045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>
            <a:alphaModFix amt="13000"/>
          </a:blip>
          <a:stretch>
            <a:fillRect/>
          </a:stretch>
        </p:blipFill>
        <p:spPr>
          <a:xfrm flipH="1" flipV="1">
            <a:off x="9610725" y="723265"/>
            <a:ext cx="1656080" cy="133286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260" y="1911985"/>
            <a:ext cx="361315" cy="29146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260" y="2616200"/>
            <a:ext cx="361315" cy="291465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260" y="3308985"/>
            <a:ext cx="361315" cy="291465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260" y="4028440"/>
            <a:ext cx="361315" cy="291465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260" y="4698365"/>
            <a:ext cx="361315" cy="291465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260" y="5403850"/>
            <a:ext cx="361315" cy="291465"/>
          </a:xfrm>
          <a:prstGeom prst="rect">
            <a:avLst/>
          </a:prstGeom>
        </p:spPr>
      </p:pic>
      <p:sp>
        <p:nvSpPr>
          <p:cNvPr id="13" name="Text 2"/>
          <p:cNvSpPr/>
          <p:nvPr>
            <p:custDataLst>
              <p:tags r:id="rId1"/>
            </p:custDataLst>
          </p:nvPr>
        </p:nvSpPr>
        <p:spPr>
          <a:xfrm>
            <a:off x="1202055" y="1777365"/>
            <a:ext cx="7804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3"/>
          <p:cNvSpPr/>
          <p:nvPr>
            <p:custDataLst>
              <p:tags r:id="rId2"/>
            </p:custDataLst>
          </p:nvPr>
        </p:nvSpPr>
        <p:spPr>
          <a:xfrm>
            <a:off x="2156460" y="183705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项目全景速览</a:t>
            </a:r>
            <a:endParaRPr lang="en-US" sz="1600" dirty="0"/>
          </a:p>
        </p:txBody>
      </p:sp>
      <p:sp>
        <p:nvSpPr>
          <p:cNvPr id="15" name="Text 4"/>
          <p:cNvSpPr/>
          <p:nvPr>
            <p:custDataLst>
              <p:tags r:id="rId3"/>
            </p:custDataLst>
          </p:nvPr>
        </p:nvSpPr>
        <p:spPr>
          <a:xfrm>
            <a:off x="1202055" y="2470150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5"/>
          <p:cNvSpPr/>
          <p:nvPr>
            <p:custDataLst>
              <p:tags r:id="rId4"/>
            </p:custDataLst>
          </p:nvPr>
        </p:nvSpPr>
        <p:spPr>
          <a:xfrm>
            <a:off x="2156460" y="2528570"/>
            <a:ext cx="6160135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技术栈与工具链</a:t>
            </a:r>
            <a:endParaRPr lang="en-US" sz="1600" dirty="0"/>
          </a:p>
        </p:txBody>
      </p:sp>
      <p:sp>
        <p:nvSpPr>
          <p:cNvPr id="17" name="Text 6"/>
          <p:cNvSpPr/>
          <p:nvPr>
            <p:custDataLst>
              <p:tags r:id="rId5"/>
            </p:custDataLst>
          </p:nvPr>
        </p:nvSpPr>
        <p:spPr>
          <a:xfrm>
            <a:off x="1202055" y="3162935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7"/>
          <p:cNvSpPr/>
          <p:nvPr>
            <p:custDataLst>
              <p:tags r:id="rId6"/>
            </p:custDataLst>
          </p:nvPr>
        </p:nvSpPr>
        <p:spPr>
          <a:xfrm>
            <a:off x="2156460" y="3221355"/>
            <a:ext cx="6160135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子项目与开发工具映射</a:t>
            </a:r>
            <a:endParaRPr lang="en-US" sz="1600" dirty="0"/>
          </a:p>
        </p:txBody>
      </p:sp>
      <p:sp>
        <p:nvSpPr>
          <p:cNvPr id="19" name="Text 8"/>
          <p:cNvSpPr/>
          <p:nvPr>
            <p:custDataLst>
              <p:tags r:id="rId7"/>
            </p:custDataLst>
          </p:nvPr>
        </p:nvSpPr>
        <p:spPr>
          <a:xfrm>
            <a:off x="1202055" y="3855720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9"/>
          <p:cNvSpPr/>
          <p:nvPr>
            <p:custDataLst>
              <p:tags r:id="rId8"/>
            </p:custDataLst>
          </p:nvPr>
        </p:nvSpPr>
        <p:spPr>
          <a:xfrm>
            <a:off x="2156460" y="3914140"/>
            <a:ext cx="6160135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AI工作流设计</a:t>
            </a:r>
            <a:endParaRPr lang="en-US" sz="1600" dirty="0"/>
          </a:p>
        </p:txBody>
      </p:sp>
      <p:sp>
        <p:nvSpPr>
          <p:cNvPr id="21" name="Text 10"/>
          <p:cNvSpPr/>
          <p:nvPr>
            <p:custDataLst>
              <p:tags r:id="rId9"/>
            </p:custDataLst>
          </p:nvPr>
        </p:nvSpPr>
        <p:spPr>
          <a:xfrm>
            <a:off x="1202055" y="4548505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1"/>
          <p:cNvSpPr/>
          <p:nvPr>
            <p:custDataLst>
              <p:tags r:id="rId10"/>
            </p:custDataLst>
          </p:nvPr>
        </p:nvSpPr>
        <p:spPr>
          <a:xfrm>
            <a:off x="2156460" y="4600575"/>
            <a:ext cx="6160135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模型训练与优化</a:t>
            </a:r>
            <a:endParaRPr lang="en-US" sz="1600" dirty="0"/>
          </a:p>
        </p:txBody>
      </p:sp>
      <p:sp>
        <p:nvSpPr>
          <p:cNvPr id="23" name="Text 12"/>
          <p:cNvSpPr/>
          <p:nvPr>
            <p:custDataLst>
              <p:tags r:id="rId11"/>
            </p:custDataLst>
          </p:nvPr>
        </p:nvSpPr>
        <p:spPr>
          <a:xfrm>
            <a:off x="1202055" y="5241290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13"/>
          <p:cNvSpPr/>
          <p:nvPr>
            <p:custDataLst>
              <p:tags r:id="rId12"/>
            </p:custDataLst>
          </p:nvPr>
        </p:nvSpPr>
        <p:spPr>
          <a:xfrm>
            <a:off x="2156460" y="5287010"/>
            <a:ext cx="6160135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旅客视角业务流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7" name="Image 3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260" y="1292860"/>
            <a:ext cx="361315" cy="291465"/>
          </a:xfrm>
          <a:prstGeom prst="rect">
            <a:avLst/>
          </a:prstGeom>
        </p:spPr>
      </p:pic>
      <p:sp>
        <p:nvSpPr>
          <p:cNvPr id="28" name="Text 2"/>
          <p:cNvSpPr/>
          <p:nvPr>
            <p:custDataLst>
              <p:tags r:id="rId13"/>
            </p:custDataLst>
          </p:nvPr>
        </p:nvSpPr>
        <p:spPr>
          <a:xfrm>
            <a:off x="1202055" y="1194435"/>
            <a:ext cx="7804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00</a:t>
            </a:r>
            <a:endParaRPr lang="en-US" sz="1600" dirty="0"/>
          </a:p>
        </p:txBody>
      </p:sp>
      <p:sp>
        <p:nvSpPr>
          <p:cNvPr id="29" name="Text 2"/>
          <p:cNvSpPr/>
          <p:nvPr>
            <p:custDataLst>
              <p:tags r:id="rId14"/>
            </p:custDataLst>
          </p:nvPr>
        </p:nvSpPr>
        <p:spPr>
          <a:xfrm>
            <a:off x="1202055" y="5934075"/>
            <a:ext cx="7804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3"/>
          <p:cNvSpPr txBox="1"/>
          <p:nvPr>
            <p:custDataLst>
              <p:tags r:id="rId15"/>
            </p:custDataLst>
          </p:nvPr>
        </p:nvSpPr>
        <p:spPr>
          <a:xfrm>
            <a:off x="2020570" y="1175385"/>
            <a:ext cx="61601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小组成员分工及介绍</a:t>
            </a:r>
            <a:endParaRPr lang="zh-CN" altLang="en-US" sz="2800">
              <a:latin typeface="MiSans" pitchFamily="34" charset="-122"/>
              <a:ea typeface="MiSans" pitchFamily="34" charset="-122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020570" y="59340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项目实训心得体会</a:t>
            </a:r>
            <a:endParaRPr lang="zh-CN" altLang="en-US">
              <a:sym typeface="+mn-ea"/>
            </a:endParaRPr>
          </a:p>
        </p:txBody>
      </p:sp>
      <p:pic>
        <p:nvPicPr>
          <p:cNvPr id="33" name="Image 3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4885" y="6050915"/>
            <a:ext cx="361315" cy="291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3"/>
          <a:srcRect t="1192" b="1192"/>
          <a:stretch>
            <a:fillRect/>
          </a:stretch>
        </p:blipFill>
        <p:spPr>
          <a:xfrm>
            <a:off x="1323380" y="2766202"/>
            <a:ext cx="1517650" cy="8108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273810" y="643255"/>
            <a:ext cx="2698115" cy="11080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1273810" y="643255"/>
            <a:ext cx="2698115" cy="1108075"/>
          </a:xfrm>
          <a:prstGeom prst="rect">
            <a:avLst/>
          </a:prstGeom>
          <a:noFill/>
        </p:spPr>
        <p:txBody>
          <a:bodyPr wrap="square" lIns="46863" tIns="90043" rIns="90043" bIns="46863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6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312160" y="1017270"/>
            <a:ext cx="2884805" cy="4994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>
                    <a:alpha val="54902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949575" y="2567940"/>
            <a:ext cx="66040" cy="956945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8" name="Text 4"/>
          <p:cNvSpPr/>
          <p:nvPr/>
        </p:nvSpPr>
        <p:spPr>
          <a:xfrm>
            <a:off x="2949575" y="2567940"/>
            <a:ext cx="66040" cy="9569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2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327265" y="1993265"/>
            <a:ext cx="6858635" cy="287083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8-12:55:40-d2v63j5nfo2stf9dk4n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35" y="1133475"/>
            <a:ext cx="442595" cy="35115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787940" y="76132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4" name="Text 8"/>
          <p:cNvSpPr/>
          <p:nvPr/>
        </p:nvSpPr>
        <p:spPr>
          <a:xfrm>
            <a:off x="7787940" y="761329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4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6"/>
          <a:srcRect t="22162"/>
          <a:stretch>
            <a:fillRect/>
          </a:stretch>
        </p:blipFill>
        <p:spPr>
          <a:xfrm>
            <a:off x="8007350" y="4126865"/>
            <a:ext cx="2732405" cy="212725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08965" y="5796280"/>
            <a:ext cx="810895" cy="553085"/>
          </a:xfrm>
          <a:custGeom>
            <a:avLst/>
            <a:gdLst/>
            <a:ahLst/>
            <a:cxnLst/>
            <a:rect l="l" t="t" r="r" b="b"/>
            <a:pathLst>
              <a:path w="810895" h="553085">
                <a:moveTo>
                  <a:pt x="36101" y="19719"/>
                </a:moveTo>
                <a:cubicBezTo>
                  <a:pt x="36101" y="30652"/>
                  <a:pt x="27864" y="39516"/>
                  <a:pt x="17704" y="39516"/>
                </a:cubicBezTo>
                <a:cubicBezTo>
                  <a:pt x="7544" y="39516"/>
                  <a:pt x="-693" y="30652"/>
                  <a:pt x="-693" y="19719"/>
                </a:cubicBezTo>
                <a:cubicBezTo>
                  <a:pt x="-693" y="8786"/>
                  <a:pt x="7544" y="-77"/>
                  <a:pt x="17704" y="-77"/>
                </a:cubicBezTo>
                <a:cubicBezTo>
                  <a:pt x="27860" y="-83"/>
                  <a:pt x="36096" y="8773"/>
                  <a:pt x="36101" y="19700"/>
                </a:cubicBezTo>
                <a:cubicBezTo>
                  <a:pt x="36101" y="19707"/>
                  <a:pt x="36101" y="19713"/>
                  <a:pt x="36101" y="19719"/>
                </a:cubicBezTo>
                <a:close/>
                <a:moveTo>
                  <a:pt x="191068" y="19719"/>
                </a:moveTo>
                <a:cubicBezTo>
                  <a:pt x="191068" y="30652"/>
                  <a:pt x="182832" y="39516"/>
                  <a:pt x="172671" y="39516"/>
                </a:cubicBezTo>
                <a:cubicBezTo>
                  <a:pt x="162512" y="39516"/>
                  <a:pt x="154275" y="30652"/>
                  <a:pt x="154275" y="19719"/>
                </a:cubicBezTo>
                <a:cubicBezTo>
                  <a:pt x="154275" y="8786"/>
                  <a:pt x="162512" y="-77"/>
                  <a:pt x="172671" y="-77"/>
                </a:cubicBezTo>
                <a:cubicBezTo>
                  <a:pt x="182826" y="-64"/>
                  <a:pt x="191057" y="8791"/>
                  <a:pt x="191068" y="19719"/>
                </a:cubicBezTo>
                <a:close/>
                <a:moveTo>
                  <a:pt x="345993" y="19719"/>
                </a:moveTo>
                <a:cubicBezTo>
                  <a:pt x="345993" y="30652"/>
                  <a:pt x="337756" y="39516"/>
                  <a:pt x="327596" y="39516"/>
                </a:cubicBezTo>
                <a:cubicBezTo>
                  <a:pt x="317436" y="39516"/>
                  <a:pt x="309199" y="30652"/>
                  <a:pt x="309199" y="19719"/>
                </a:cubicBezTo>
                <a:cubicBezTo>
                  <a:pt x="309199" y="8786"/>
                  <a:pt x="317436" y="-77"/>
                  <a:pt x="327596" y="-77"/>
                </a:cubicBezTo>
                <a:cubicBezTo>
                  <a:pt x="337752" y="-83"/>
                  <a:pt x="345988" y="8773"/>
                  <a:pt x="345993" y="19700"/>
                </a:cubicBezTo>
                <a:cubicBezTo>
                  <a:pt x="345993" y="19707"/>
                  <a:pt x="345993" y="19713"/>
                  <a:pt x="345993" y="19719"/>
                </a:cubicBezTo>
                <a:close/>
                <a:moveTo>
                  <a:pt x="500961" y="19719"/>
                </a:moveTo>
                <a:cubicBezTo>
                  <a:pt x="500961" y="30652"/>
                  <a:pt x="492724" y="39516"/>
                  <a:pt x="482564" y="39516"/>
                </a:cubicBezTo>
                <a:cubicBezTo>
                  <a:pt x="472403" y="39516"/>
                  <a:pt x="464167" y="30652"/>
                  <a:pt x="464167" y="19719"/>
                </a:cubicBezTo>
                <a:cubicBezTo>
                  <a:pt x="464167" y="8786"/>
                  <a:pt x="472403" y="-77"/>
                  <a:pt x="482564" y="-77"/>
                </a:cubicBezTo>
                <a:cubicBezTo>
                  <a:pt x="492720" y="-83"/>
                  <a:pt x="500955" y="8773"/>
                  <a:pt x="500961" y="19700"/>
                </a:cubicBezTo>
                <a:cubicBezTo>
                  <a:pt x="500961" y="19707"/>
                  <a:pt x="500961" y="19713"/>
                  <a:pt x="500961" y="19719"/>
                </a:cubicBezTo>
                <a:close/>
                <a:moveTo>
                  <a:pt x="655928" y="19719"/>
                </a:moveTo>
                <a:cubicBezTo>
                  <a:pt x="655928" y="30652"/>
                  <a:pt x="647692" y="39516"/>
                  <a:pt x="637531" y="39516"/>
                </a:cubicBezTo>
                <a:cubicBezTo>
                  <a:pt x="627372" y="39516"/>
                  <a:pt x="619134" y="30652"/>
                  <a:pt x="619134" y="19719"/>
                </a:cubicBezTo>
                <a:cubicBezTo>
                  <a:pt x="619134" y="8786"/>
                  <a:pt x="627372" y="-77"/>
                  <a:pt x="637531" y="-77"/>
                </a:cubicBezTo>
                <a:cubicBezTo>
                  <a:pt x="647687" y="-83"/>
                  <a:pt x="655923" y="8773"/>
                  <a:pt x="655928" y="19700"/>
                </a:cubicBezTo>
                <a:cubicBezTo>
                  <a:pt x="655928" y="19707"/>
                  <a:pt x="655928" y="19713"/>
                  <a:pt x="655928" y="19719"/>
                </a:cubicBezTo>
                <a:close/>
                <a:moveTo>
                  <a:pt x="810895" y="19719"/>
                </a:moveTo>
                <a:cubicBezTo>
                  <a:pt x="810895" y="30652"/>
                  <a:pt x="802658" y="39516"/>
                  <a:pt x="792498" y="39516"/>
                </a:cubicBezTo>
                <a:cubicBezTo>
                  <a:pt x="782338" y="39516"/>
                  <a:pt x="774101" y="30652"/>
                  <a:pt x="774101" y="19719"/>
                </a:cubicBezTo>
                <a:cubicBezTo>
                  <a:pt x="774101" y="8786"/>
                  <a:pt x="782338" y="-77"/>
                  <a:pt x="792498" y="-77"/>
                </a:cubicBezTo>
                <a:cubicBezTo>
                  <a:pt x="802653" y="-64"/>
                  <a:pt x="810884" y="8791"/>
                  <a:pt x="810895" y="19719"/>
                </a:cubicBezTo>
                <a:close/>
                <a:moveTo>
                  <a:pt x="36101" y="148112"/>
                </a:moveTo>
                <a:cubicBezTo>
                  <a:pt x="36101" y="159045"/>
                  <a:pt x="27864" y="167908"/>
                  <a:pt x="17704" y="167908"/>
                </a:cubicBezTo>
                <a:cubicBezTo>
                  <a:pt x="7544" y="167908"/>
                  <a:pt x="-693" y="159045"/>
                  <a:pt x="-693" y="148112"/>
                </a:cubicBezTo>
                <a:cubicBezTo>
                  <a:pt x="-693" y="137178"/>
                  <a:pt x="7544" y="128315"/>
                  <a:pt x="17704" y="128315"/>
                </a:cubicBezTo>
                <a:cubicBezTo>
                  <a:pt x="27860" y="128310"/>
                  <a:pt x="36096" y="137165"/>
                  <a:pt x="36101" y="148093"/>
                </a:cubicBezTo>
                <a:cubicBezTo>
                  <a:pt x="36101" y="148099"/>
                  <a:pt x="36101" y="148105"/>
                  <a:pt x="36101" y="148112"/>
                </a:cubicBezTo>
                <a:close/>
                <a:moveTo>
                  <a:pt x="191068" y="148112"/>
                </a:moveTo>
                <a:cubicBezTo>
                  <a:pt x="191068" y="159045"/>
                  <a:pt x="182832" y="167908"/>
                  <a:pt x="172671" y="167908"/>
                </a:cubicBezTo>
                <a:cubicBezTo>
                  <a:pt x="162512" y="167908"/>
                  <a:pt x="154275" y="159045"/>
                  <a:pt x="154275" y="148112"/>
                </a:cubicBezTo>
                <a:cubicBezTo>
                  <a:pt x="154275" y="137178"/>
                  <a:pt x="162512" y="128315"/>
                  <a:pt x="172671" y="128315"/>
                </a:cubicBezTo>
                <a:cubicBezTo>
                  <a:pt x="182826" y="128328"/>
                  <a:pt x="191057" y="137184"/>
                  <a:pt x="191068" y="148112"/>
                </a:cubicBezTo>
                <a:close/>
                <a:moveTo>
                  <a:pt x="345993" y="148112"/>
                </a:moveTo>
                <a:cubicBezTo>
                  <a:pt x="345993" y="159045"/>
                  <a:pt x="337756" y="167908"/>
                  <a:pt x="327596" y="167908"/>
                </a:cubicBezTo>
                <a:cubicBezTo>
                  <a:pt x="317436" y="167908"/>
                  <a:pt x="309199" y="159045"/>
                  <a:pt x="309199" y="148112"/>
                </a:cubicBezTo>
                <a:cubicBezTo>
                  <a:pt x="309199" y="137178"/>
                  <a:pt x="317436" y="128315"/>
                  <a:pt x="327596" y="128315"/>
                </a:cubicBezTo>
                <a:cubicBezTo>
                  <a:pt x="337752" y="128310"/>
                  <a:pt x="345988" y="137165"/>
                  <a:pt x="345993" y="148093"/>
                </a:cubicBezTo>
                <a:cubicBezTo>
                  <a:pt x="345993" y="148099"/>
                  <a:pt x="345993" y="148105"/>
                  <a:pt x="345993" y="148112"/>
                </a:cubicBezTo>
                <a:close/>
                <a:moveTo>
                  <a:pt x="500961" y="148112"/>
                </a:moveTo>
                <a:cubicBezTo>
                  <a:pt x="500961" y="159045"/>
                  <a:pt x="492724" y="167908"/>
                  <a:pt x="482564" y="167908"/>
                </a:cubicBezTo>
                <a:cubicBezTo>
                  <a:pt x="472403" y="167908"/>
                  <a:pt x="464167" y="159045"/>
                  <a:pt x="464167" y="148112"/>
                </a:cubicBezTo>
                <a:cubicBezTo>
                  <a:pt x="464167" y="137178"/>
                  <a:pt x="472403" y="128315"/>
                  <a:pt x="482564" y="128315"/>
                </a:cubicBezTo>
                <a:cubicBezTo>
                  <a:pt x="492720" y="128310"/>
                  <a:pt x="500955" y="137165"/>
                  <a:pt x="500961" y="148093"/>
                </a:cubicBezTo>
                <a:cubicBezTo>
                  <a:pt x="500961" y="148099"/>
                  <a:pt x="500961" y="148105"/>
                  <a:pt x="500961" y="148112"/>
                </a:cubicBezTo>
                <a:close/>
                <a:moveTo>
                  <a:pt x="655928" y="148112"/>
                </a:moveTo>
                <a:cubicBezTo>
                  <a:pt x="655928" y="159045"/>
                  <a:pt x="647692" y="167908"/>
                  <a:pt x="637531" y="167908"/>
                </a:cubicBezTo>
                <a:cubicBezTo>
                  <a:pt x="627372" y="167908"/>
                  <a:pt x="619134" y="159045"/>
                  <a:pt x="619134" y="148112"/>
                </a:cubicBezTo>
                <a:cubicBezTo>
                  <a:pt x="619134" y="137178"/>
                  <a:pt x="627372" y="128315"/>
                  <a:pt x="637531" y="128315"/>
                </a:cubicBezTo>
                <a:cubicBezTo>
                  <a:pt x="647687" y="128310"/>
                  <a:pt x="655923" y="137165"/>
                  <a:pt x="655928" y="148093"/>
                </a:cubicBezTo>
                <a:cubicBezTo>
                  <a:pt x="655928" y="148099"/>
                  <a:pt x="655928" y="148105"/>
                  <a:pt x="655928" y="148112"/>
                </a:cubicBezTo>
                <a:close/>
                <a:moveTo>
                  <a:pt x="810895" y="148112"/>
                </a:moveTo>
                <a:cubicBezTo>
                  <a:pt x="810895" y="159045"/>
                  <a:pt x="802658" y="167908"/>
                  <a:pt x="792498" y="167908"/>
                </a:cubicBezTo>
                <a:cubicBezTo>
                  <a:pt x="782338" y="167908"/>
                  <a:pt x="774101" y="159045"/>
                  <a:pt x="774101" y="148112"/>
                </a:cubicBezTo>
                <a:cubicBezTo>
                  <a:pt x="774101" y="137178"/>
                  <a:pt x="782338" y="128315"/>
                  <a:pt x="792498" y="128315"/>
                </a:cubicBezTo>
                <a:cubicBezTo>
                  <a:pt x="802653" y="128328"/>
                  <a:pt x="810884" y="137184"/>
                  <a:pt x="810895" y="148112"/>
                </a:cubicBezTo>
                <a:close/>
                <a:moveTo>
                  <a:pt x="36101" y="276504"/>
                </a:moveTo>
                <a:cubicBezTo>
                  <a:pt x="36101" y="287437"/>
                  <a:pt x="27864" y="296300"/>
                  <a:pt x="17704" y="296300"/>
                </a:cubicBezTo>
                <a:cubicBezTo>
                  <a:pt x="7544" y="296300"/>
                  <a:pt x="-693" y="287437"/>
                  <a:pt x="-693" y="276504"/>
                </a:cubicBezTo>
                <a:cubicBezTo>
                  <a:pt x="-693" y="265571"/>
                  <a:pt x="7544" y="256707"/>
                  <a:pt x="17704" y="256707"/>
                </a:cubicBezTo>
                <a:cubicBezTo>
                  <a:pt x="27860" y="256702"/>
                  <a:pt x="36096" y="265557"/>
                  <a:pt x="36101" y="276485"/>
                </a:cubicBezTo>
                <a:cubicBezTo>
                  <a:pt x="36101" y="276491"/>
                  <a:pt x="36101" y="276498"/>
                  <a:pt x="36101" y="276504"/>
                </a:cubicBezTo>
                <a:close/>
                <a:moveTo>
                  <a:pt x="191068" y="276504"/>
                </a:moveTo>
                <a:cubicBezTo>
                  <a:pt x="191068" y="287437"/>
                  <a:pt x="182832" y="296300"/>
                  <a:pt x="172671" y="296300"/>
                </a:cubicBezTo>
                <a:cubicBezTo>
                  <a:pt x="162512" y="296300"/>
                  <a:pt x="154275" y="287437"/>
                  <a:pt x="154275" y="276504"/>
                </a:cubicBezTo>
                <a:cubicBezTo>
                  <a:pt x="154275" y="265571"/>
                  <a:pt x="162512" y="256707"/>
                  <a:pt x="172671" y="256707"/>
                </a:cubicBezTo>
                <a:cubicBezTo>
                  <a:pt x="182826" y="256720"/>
                  <a:pt x="191057" y="265576"/>
                  <a:pt x="191068" y="276504"/>
                </a:cubicBezTo>
                <a:close/>
                <a:moveTo>
                  <a:pt x="345993" y="276504"/>
                </a:moveTo>
                <a:cubicBezTo>
                  <a:pt x="345993" y="287437"/>
                  <a:pt x="337756" y="296300"/>
                  <a:pt x="327596" y="296300"/>
                </a:cubicBezTo>
                <a:cubicBezTo>
                  <a:pt x="317436" y="296300"/>
                  <a:pt x="309199" y="287437"/>
                  <a:pt x="309199" y="276504"/>
                </a:cubicBezTo>
                <a:cubicBezTo>
                  <a:pt x="309199" y="265571"/>
                  <a:pt x="317436" y="256707"/>
                  <a:pt x="327596" y="256707"/>
                </a:cubicBezTo>
                <a:cubicBezTo>
                  <a:pt x="337752" y="256702"/>
                  <a:pt x="345988" y="265557"/>
                  <a:pt x="345993" y="276485"/>
                </a:cubicBezTo>
                <a:cubicBezTo>
                  <a:pt x="345993" y="276491"/>
                  <a:pt x="345993" y="276498"/>
                  <a:pt x="345993" y="276504"/>
                </a:cubicBezTo>
                <a:close/>
                <a:moveTo>
                  <a:pt x="500961" y="276504"/>
                </a:moveTo>
                <a:cubicBezTo>
                  <a:pt x="500961" y="287437"/>
                  <a:pt x="492724" y="296300"/>
                  <a:pt x="482564" y="296300"/>
                </a:cubicBezTo>
                <a:cubicBezTo>
                  <a:pt x="472403" y="296300"/>
                  <a:pt x="464167" y="287437"/>
                  <a:pt x="464167" y="276504"/>
                </a:cubicBezTo>
                <a:cubicBezTo>
                  <a:pt x="464167" y="265571"/>
                  <a:pt x="472403" y="256707"/>
                  <a:pt x="482564" y="256707"/>
                </a:cubicBezTo>
                <a:cubicBezTo>
                  <a:pt x="492720" y="256702"/>
                  <a:pt x="500955" y="265557"/>
                  <a:pt x="500961" y="276485"/>
                </a:cubicBezTo>
                <a:cubicBezTo>
                  <a:pt x="500961" y="276491"/>
                  <a:pt x="500961" y="276498"/>
                  <a:pt x="500961" y="276504"/>
                </a:cubicBezTo>
                <a:close/>
                <a:moveTo>
                  <a:pt x="655928" y="276504"/>
                </a:moveTo>
                <a:cubicBezTo>
                  <a:pt x="655928" y="287437"/>
                  <a:pt x="647692" y="296300"/>
                  <a:pt x="637531" y="296300"/>
                </a:cubicBezTo>
                <a:cubicBezTo>
                  <a:pt x="627372" y="296300"/>
                  <a:pt x="619134" y="287437"/>
                  <a:pt x="619134" y="276504"/>
                </a:cubicBezTo>
                <a:cubicBezTo>
                  <a:pt x="619134" y="265571"/>
                  <a:pt x="627372" y="256707"/>
                  <a:pt x="637531" y="256707"/>
                </a:cubicBezTo>
                <a:cubicBezTo>
                  <a:pt x="647687" y="256702"/>
                  <a:pt x="655923" y="265557"/>
                  <a:pt x="655928" y="276485"/>
                </a:cubicBezTo>
                <a:cubicBezTo>
                  <a:pt x="655928" y="276491"/>
                  <a:pt x="655928" y="276498"/>
                  <a:pt x="655928" y="276504"/>
                </a:cubicBezTo>
                <a:close/>
                <a:moveTo>
                  <a:pt x="810895" y="276504"/>
                </a:moveTo>
                <a:cubicBezTo>
                  <a:pt x="810895" y="287437"/>
                  <a:pt x="802658" y="296300"/>
                  <a:pt x="792498" y="296300"/>
                </a:cubicBezTo>
                <a:cubicBezTo>
                  <a:pt x="782338" y="296300"/>
                  <a:pt x="774101" y="287437"/>
                  <a:pt x="774101" y="276504"/>
                </a:cubicBezTo>
                <a:cubicBezTo>
                  <a:pt x="774101" y="265571"/>
                  <a:pt x="782338" y="256707"/>
                  <a:pt x="792498" y="256707"/>
                </a:cubicBezTo>
                <a:cubicBezTo>
                  <a:pt x="802653" y="256720"/>
                  <a:pt x="810884" y="265576"/>
                  <a:pt x="810895" y="276504"/>
                </a:cubicBezTo>
                <a:close/>
                <a:moveTo>
                  <a:pt x="36101" y="404896"/>
                </a:moveTo>
                <a:cubicBezTo>
                  <a:pt x="36101" y="415830"/>
                  <a:pt x="27864" y="424693"/>
                  <a:pt x="17704" y="424693"/>
                </a:cubicBezTo>
                <a:cubicBezTo>
                  <a:pt x="7544" y="424693"/>
                  <a:pt x="-693" y="415830"/>
                  <a:pt x="-693" y="404896"/>
                </a:cubicBezTo>
                <a:cubicBezTo>
                  <a:pt x="-693" y="393963"/>
                  <a:pt x="7544" y="385100"/>
                  <a:pt x="17704" y="385100"/>
                </a:cubicBezTo>
                <a:cubicBezTo>
                  <a:pt x="27860" y="385095"/>
                  <a:pt x="36096" y="393949"/>
                  <a:pt x="36101" y="404877"/>
                </a:cubicBezTo>
                <a:cubicBezTo>
                  <a:pt x="36101" y="404884"/>
                  <a:pt x="36101" y="404890"/>
                  <a:pt x="36101" y="404896"/>
                </a:cubicBezTo>
                <a:close/>
                <a:moveTo>
                  <a:pt x="191068" y="404896"/>
                </a:moveTo>
                <a:cubicBezTo>
                  <a:pt x="191068" y="415830"/>
                  <a:pt x="182832" y="424693"/>
                  <a:pt x="172671" y="424693"/>
                </a:cubicBezTo>
                <a:cubicBezTo>
                  <a:pt x="162512" y="424693"/>
                  <a:pt x="154275" y="415830"/>
                  <a:pt x="154275" y="404896"/>
                </a:cubicBezTo>
                <a:cubicBezTo>
                  <a:pt x="154275" y="393963"/>
                  <a:pt x="162512" y="385100"/>
                  <a:pt x="172671" y="385100"/>
                </a:cubicBezTo>
                <a:cubicBezTo>
                  <a:pt x="182826" y="385113"/>
                  <a:pt x="191057" y="393968"/>
                  <a:pt x="191068" y="404896"/>
                </a:cubicBezTo>
                <a:close/>
                <a:moveTo>
                  <a:pt x="345993" y="404896"/>
                </a:moveTo>
                <a:cubicBezTo>
                  <a:pt x="345993" y="415830"/>
                  <a:pt x="337756" y="424693"/>
                  <a:pt x="327596" y="424693"/>
                </a:cubicBezTo>
                <a:cubicBezTo>
                  <a:pt x="317436" y="424693"/>
                  <a:pt x="309199" y="415830"/>
                  <a:pt x="309199" y="404896"/>
                </a:cubicBezTo>
                <a:cubicBezTo>
                  <a:pt x="309199" y="393963"/>
                  <a:pt x="317436" y="385100"/>
                  <a:pt x="327596" y="385100"/>
                </a:cubicBezTo>
                <a:cubicBezTo>
                  <a:pt x="337752" y="385095"/>
                  <a:pt x="345988" y="393949"/>
                  <a:pt x="345993" y="404877"/>
                </a:cubicBezTo>
                <a:cubicBezTo>
                  <a:pt x="345993" y="404884"/>
                  <a:pt x="345993" y="404890"/>
                  <a:pt x="345993" y="404896"/>
                </a:cubicBezTo>
                <a:close/>
                <a:moveTo>
                  <a:pt x="500961" y="404896"/>
                </a:moveTo>
                <a:cubicBezTo>
                  <a:pt x="500961" y="415830"/>
                  <a:pt x="492724" y="424693"/>
                  <a:pt x="482564" y="424693"/>
                </a:cubicBezTo>
                <a:cubicBezTo>
                  <a:pt x="472403" y="424693"/>
                  <a:pt x="464167" y="415830"/>
                  <a:pt x="464167" y="404896"/>
                </a:cubicBezTo>
                <a:cubicBezTo>
                  <a:pt x="464167" y="393963"/>
                  <a:pt x="472403" y="385100"/>
                  <a:pt x="482564" y="385100"/>
                </a:cubicBezTo>
                <a:cubicBezTo>
                  <a:pt x="492720" y="385095"/>
                  <a:pt x="500955" y="393949"/>
                  <a:pt x="500961" y="404877"/>
                </a:cubicBezTo>
                <a:cubicBezTo>
                  <a:pt x="500961" y="404884"/>
                  <a:pt x="500961" y="404890"/>
                  <a:pt x="500961" y="404896"/>
                </a:cubicBezTo>
                <a:close/>
                <a:moveTo>
                  <a:pt x="655928" y="404896"/>
                </a:moveTo>
                <a:cubicBezTo>
                  <a:pt x="655928" y="415830"/>
                  <a:pt x="647692" y="424693"/>
                  <a:pt x="637531" y="424693"/>
                </a:cubicBezTo>
                <a:cubicBezTo>
                  <a:pt x="627372" y="424693"/>
                  <a:pt x="619134" y="415830"/>
                  <a:pt x="619134" y="404896"/>
                </a:cubicBezTo>
                <a:cubicBezTo>
                  <a:pt x="619134" y="393963"/>
                  <a:pt x="627372" y="385100"/>
                  <a:pt x="637531" y="385100"/>
                </a:cubicBezTo>
                <a:cubicBezTo>
                  <a:pt x="647687" y="385095"/>
                  <a:pt x="655923" y="393949"/>
                  <a:pt x="655928" y="404877"/>
                </a:cubicBezTo>
                <a:cubicBezTo>
                  <a:pt x="655928" y="404884"/>
                  <a:pt x="655928" y="404890"/>
                  <a:pt x="655928" y="404896"/>
                </a:cubicBezTo>
                <a:close/>
                <a:moveTo>
                  <a:pt x="810895" y="404896"/>
                </a:moveTo>
                <a:cubicBezTo>
                  <a:pt x="810895" y="415830"/>
                  <a:pt x="802658" y="424693"/>
                  <a:pt x="792498" y="424693"/>
                </a:cubicBezTo>
                <a:cubicBezTo>
                  <a:pt x="782338" y="424693"/>
                  <a:pt x="774101" y="415830"/>
                  <a:pt x="774101" y="404896"/>
                </a:cubicBezTo>
                <a:cubicBezTo>
                  <a:pt x="774101" y="393963"/>
                  <a:pt x="782338" y="385100"/>
                  <a:pt x="792498" y="385100"/>
                </a:cubicBezTo>
                <a:cubicBezTo>
                  <a:pt x="802653" y="385113"/>
                  <a:pt x="810884" y="393968"/>
                  <a:pt x="810895" y="404896"/>
                </a:cubicBezTo>
                <a:close/>
                <a:moveTo>
                  <a:pt x="36101" y="533289"/>
                </a:moveTo>
                <a:cubicBezTo>
                  <a:pt x="36101" y="544222"/>
                  <a:pt x="27864" y="553085"/>
                  <a:pt x="17704" y="553085"/>
                </a:cubicBezTo>
                <a:cubicBezTo>
                  <a:pt x="7544" y="553085"/>
                  <a:pt x="-693" y="544222"/>
                  <a:pt x="-693" y="533289"/>
                </a:cubicBezTo>
                <a:cubicBezTo>
                  <a:pt x="-693" y="522355"/>
                  <a:pt x="7544" y="513492"/>
                  <a:pt x="17704" y="513492"/>
                </a:cubicBezTo>
                <a:cubicBezTo>
                  <a:pt x="27860" y="513487"/>
                  <a:pt x="36096" y="522342"/>
                  <a:pt x="36101" y="533269"/>
                </a:cubicBezTo>
                <a:cubicBezTo>
                  <a:pt x="36101" y="533276"/>
                  <a:pt x="36101" y="533282"/>
                  <a:pt x="36101" y="533289"/>
                </a:cubicBezTo>
                <a:close/>
                <a:moveTo>
                  <a:pt x="191068" y="533289"/>
                </a:moveTo>
                <a:cubicBezTo>
                  <a:pt x="191068" y="544222"/>
                  <a:pt x="182832" y="553085"/>
                  <a:pt x="172671" y="553085"/>
                </a:cubicBezTo>
                <a:cubicBezTo>
                  <a:pt x="162512" y="553085"/>
                  <a:pt x="154275" y="544222"/>
                  <a:pt x="154275" y="533289"/>
                </a:cubicBezTo>
                <a:cubicBezTo>
                  <a:pt x="154275" y="522355"/>
                  <a:pt x="162512" y="513492"/>
                  <a:pt x="172671" y="513492"/>
                </a:cubicBezTo>
                <a:cubicBezTo>
                  <a:pt x="182826" y="513504"/>
                  <a:pt x="191057" y="522361"/>
                  <a:pt x="191068" y="533289"/>
                </a:cubicBezTo>
                <a:close/>
                <a:moveTo>
                  <a:pt x="345993" y="533289"/>
                </a:moveTo>
                <a:cubicBezTo>
                  <a:pt x="345993" y="544222"/>
                  <a:pt x="337756" y="553085"/>
                  <a:pt x="327596" y="553085"/>
                </a:cubicBezTo>
                <a:cubicBezTo>
                  <a:pt x="317436" y="553085"/>
                  <a:pt x="309199" y="544222"/>
                  <a:pt x="309199" y="533289"/>
                </a:cubicBezTo>
                <a:cubicBezTo>
                  <a:pt x="309199" y="522355"/>
                  <a:pt x="317436" y="513492"/>
                  <a:pt x="327596" y="513492"/>
                </a:cubicBezTo>
                <a:cubicBezTo>
                  <a:pt x="337752" y="513487"/>
                  <a:pt x="345988" y="522342"/>
                  <a:pt x="345993" y="533269"/>
                </a:cubicBezTo>
                <a:cubicBezTo>
                  <a:pt x="345993" y="533276"/>
                  <a:pt x="345993" y="533282"/>
                  <a:pt x="345993" y="533289"/>
                </a:cubicBezTo>
                <a:close/>
                <a:moveTo>
                  <a:pt x="500961" y="533289"/>
                </a:moveTo>
                <a:cubicBezTo>
                  <a:pt x="500961" y="544222"/>
                  <a:pt x="492724" y="553085"/>
                  <a:pt x="482564" y="553085"/>
                </a:cubicBezTo>
                <a:cubicBezTo>
                  <a:pt x="472403" y="553085"/>
                  <a:pt x="464167" y="544222"/>
                  <a:pt x="464167" y="533289"/>
                </a:cubicBezTo>
                <a:cubicBezTo>
                  <a:pt x="464167" y="522355"/>
                  <a:pt x="472403" y="513492"/>
                  <a:pt x="482564" y="513492"/>
                </a:cubicBezTo>
                <a:cubicBezTo>
                  <a:pt x="492720" y="513487"/>
                  <a:pt x="500955" y="522342"/>
                  <a:pt x="500961" y="533269"/>
                </a:cubicBezTo>
                <a:cubicBezTo>
                  <a:pt x="500961" y="533276"/>
                  <a:pt x="500961" y="533282"/>
                  <a:pt x="500961" y="533289"/>
                </a:cubicBezTo>
                <a:close/>
                <a:moveTo>
                  <a:pt x="655928" y="533289"/>
                </a:moveTo>
                <a:cubicBezTo>
                  <a:pt x="655928" y="544222"/>
                  <a:pt x="647692" y="553085"/>
                  <a:pt x="637531" y="553085"/>
                </a:cubicBezTo>
                <a:cubicBezTo>
                  <a:pt x="627372" y="553085"/>
                  <a:pt x="619134" y="544222"/>
                  <a:pt x="619134" y="533289"/>
                </a:cubicBezTo>
                <a:cubicBezTo>
                  <a:pt x="619134" y="522355"/>
                  <a:pt x="627372" y="513492"/>
                  <a:pt x="637531" y="513492"/>
                </a:cubicBezTo>
                <a:cubicBezTo>
                  <a:pt x="647687" y="513487"/>
                  <a:pt x="655923" y="522342"/>
                  <a:pt x="655928" y="533269"/>
                </a:cubicBezTo>
                <a:cubicBezTo>
                  <a:pt x="655928" y="533276"/>
                  <a:pt x="655928" y="533282"/>
                  <a:pt x="655928" y="533289"/>
                </a:cubicBezTo>
                <a:close/>
                <a:moveTo>
                  <a:pt x="810895" y="533289"/>
                </a:moveTo>
                <a:cubicBezTo>
                  <a:pt x="810895" y="544222"/>
                  <a:pt x="802658" y="553085"/>
                  <a:pt x="792498" y="553085"/>
                </a:cubicBezTo>
                <a:cubicBezTo>
                  <a:pt x="782338" y="553085"/>
                  <a:pt x="774101" y="544222"/>
                  <a:pt x="774101" y="533289"/>
                </a:cubicBezTo>
                <a:cubicBezTo>
                  <a:pt x="774101" y="522355"/>
                  <a:pt x="782338" y="513492"/>
                  <a:pt x="792498" y="513492"/>
                </a:cubicBezTo>
                <a:cubicBezTo>
                  <a:pt x="802653" y="513504"/>
                  <a:pt x="810884" y="522361"/>
                  <a:pt x="810895" y="533289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7" name="Text 10"/>
          <p:cNvSpPr/>
          <p:nvPr/>
        </p:nvSpPr>
        <p:spPr>
          <a:xfrm>
            <a:off x="608965" y="5796280"/>
            <a:ext cx="810895" cy="5530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604645" y="2623820"/>
            <a:ext cx="1011978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00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3472815" y="2766060"/>
            <a:ext cx="4721860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600" b="1" dirty="0"/>
              <a:t>小组成员分工及介绍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C6532-D4BE-8BAE-54B0-12610905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D0CF51-F44A-1912-FF38-83757A7CBF9F}"/>
              </a:ext>
            </a:extLst>
          </p:cNvPr>
          <p:cNvSpPr/>
          <p:nvPr/>
        </p:nvSpPr>
        <p:spPr>
          <a:xfrm>
            <a:off x="1118235" y="647700"/>
            <a:ext cx="6924675" cy="9220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EF346C-3468-82DE-F5BE-BD6080E0808A}"/>
              </a:ext>
            </a:extLst>
          </p:cNvPr>
          <p:cNvSpPr/>
          <p:nvPr/>
        </p:nvSpPr>
        <p:spPr>
          <a:xfrm>
            <a:off x="925195" y="504472"/>
            <a:ext cx="6924675" cy="92202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3200" b="1" kern="0" spc="3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小组成员分工及介绍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2:55:57-d2v63ndnfo2stf9dk540.png">
            <a:extLst>
              <a:ext uri="{FF2B5EF4-FFF2-40B4-BE49-F238E27FC236}">
                <a16:creationId xmlns:a16="http://schemas.microsoft.com/office/drawing/2014/main" id="{8FBE440F-82A6-4F15-8737-51FF82DE1FB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22162"/>
          <a:stretch>
            <a:fillRect/>
          </a:stretch>
        </p:blipFill>
        <p:spPr>
          <a:xfrm>
            <a:off x="7494905" y="2658110"/>
            <a:ext cx="4050665" cy="3154045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8-12:55:41-d2v63jdnfo2stf9dk4og.png">
            <a:extLst>
              <a:ext uri="{FF2B5EF4-FFF2-40B4-BE49-F238E27FC236}">
                <a16:creationId xmlns:a16="http://schemas.microsoft.com/office/drawing/2014/main" id="{C611D628-BBF9-5A95-375E-B122F8C3CD31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13000"/>
          </a:blip>
          <a:stretch>
            <a:fillRect/>
          </a:stretch>
        </p:blipFill>
        <p:spPr>
          <a:xfrm flipH="1" flipV="1">
            <a:off x="9610725" y="723265"/>
            <a:ext cx="1656080" cy="133286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41-d2v63jdnfo2stf9dk4q0.png">
            <a:extLst>
              <a:ext uri="{FF2B5EF4-FFF2-40B4-BE49-F238E27FC236}">
                <a16:creationId xmlns:a16="http://schemas.microsoft.com/office/drawing/2014/main" id="{AFB12065-AFB9-8D99-7BDF-2C590095A1D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41-d2v63jdnfo2stf9dk4og.png">
            <a:extLst>
              <a:ext uri="{FF2B5EF4-FFF2-40B4-BE49-F238E27FC236}">
                <a16:creationId xmlns:a16="http://schemas.microsoft.com/office/drawing/2014/main" id="{1CF684E5-9340-06F3-6F19-1EE9A257FC0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60" y="1911985"/>
            <a:ext cx="361315" cy="29146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8-12:55:41-d2v63jdnfo2stf9dk4og.png">
            <a:extLst>
              <a:ext uri="{FF2B5EF4-FFF2-40B4-BE49-F238E27FC236}">
                <a16:creationId xmlns:a16="http://schemas.microsoft.com/office/drawing/2014/main" id="{FD1E9EC2-076D-4F9D-05AF-B278439F56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60" y="2616200"/>
            <a:ext cx="361315" cy="291465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8-12:55:41-d2v63jdnfo2stf9dk4og.png">
            <a:extLst>
              <a:ext uri="{FF2B5EF4-FFF2-40B4-BE49-F238E27FC236}">
                <a16:creationId xmlns:a16="http://schemas.microsoft.com/office/drawing/2014/main" id="{1332386D-E397-267D-A592-2C9A625867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60" y="3308985"/>
            <a:ext cx="361315" cy="291465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8-12:55:41-d2v63jdnfo2stf9dk4og.png">
            <a:extLst>
              <a:ext uri="{FF2B5EF4-FFF2-40B4-BE49-F238E27FC236}">
                <a16:creationId xmlns:a16="http://schemas.microsoft.com/office/drawing/2014/main" id="{9A2BAD13-8043-0877-8780-ACCCE83BDA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60" y="4028440"/>
            <a:ext cx="361315" cy="291465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8-12:55:41-d2v63jdnfo2stf9dk4og.png">
            <a:extLst>
              <a:ext uri="{FF2B5EF4-FFF2-40B4-BE49-F238E27FC236}">
                <a16:creationId xmlns:a16="http://schemas.microsoft.com/office/drawing/2014/main" id="{CD755B84-B441-A251-77E1-1901A72F7EA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60" y="4698365"/>
            <a:ext cx="361315" cy="291465"/>
          </a:xfrm>
          <a:prstGeom prst="rect">
            <a:avLst/>
          </a:prstGeom>
        </p:spPr>
      </p:pic>
      <p:sp>
        <p:nvSpPr>
          <p:cNvPr id="13" name="Text 2">
            <a:extLst>
              <a:ext uri="{FF2B5EF4-FFF2-40B4-BE49-F238E27FC236}">
                <a16:creationId xmlns:a16="http://schemas.microsoft.com/office/drawing/2014/main" id="{48DBBB92-DC66-C968-BE25-01FA302F1D2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202055" y="1777365"/>
            <a:ext cx="7804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6664B238-B03E-F6C1-1B98-3DAEA44E49D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156460" y="183705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李雨硕</a:t>
            </a:r>
            <a:r>
              <a:rPr lang="en-US" altLang="zh-CN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接口测试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23E05710-4EFA-76CD-90E1-393A57E4BA8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202055" y="2470150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995BA2D-9D58-B2BB-8B07-CCFF6D02FB9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156460" y="2528570"/>
            <a:ext cx="6160135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王洪达</a:t>
            </a:r>
            <a:r>
              <a:rPr lang="en-US" altLang="zh-CN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模型训练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3BD56C0-AE3A-A05B-FB4D-D82BB3E081B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02055" y="3162935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32DA5E6-9880-0002-20A0-6EAEB5A399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56460" y="3221355"/>
            <a:ext cx="6160135" cy="42961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武振华</a:t>
            </a:r>
            <a:r>
              <a:rPr lang="en-US" altLang="zh-CN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图片标注</a:t>
            </a:r>
            <a:endParaRPr lang="en-US" sz="16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69D8B10F-9C7F-9699-2BB8-19D4210B25A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202055" y="3855720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575016B4-F5B9-B44A-DA9E-EB0EEC07D02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156460" y="3914140"/>
            <a:ext cx="6160135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徐加雄</a:t>
            </a:r>
            <a:r>
              <a:rPr lang="en-US" altLang="zh-CN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文档编写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0BCF9E88-0C27-E203-BDCF-92D74D365E6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202055" y="4548505"/>
            <a:ext cx="818515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778C16A7-1258-1B54-9611-16944BE7491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156460" y="4600575"/>
            <a:ext cx="6160135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孙瑞宏</a:t>
            </a:r>
            <a:r>
              <a:rPr lang="en-US" altLang="zh-CN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——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前端开发</a:t>
            </a:r>
            <a:endParaRPr lang="en-US" altLang="zh-CN" sz="1600" dirty="0"/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0" name="Image 7" descr="https://kimi-img.moonshot.cn/pub/slides/slides_tmpl/image/25-09-08-12:55:41-d2v63jdnfo2stf9dk4og.png">
            <a:extLst>
              <a:ext uri="{FF2B5EF4-FFF2-40B4-BE49-F238E27FC236}">
                <a16:creationId xmlns:a16="http://schemas.microsoft.com/office/drawing/2014/main" id="{98B2439D-EC20-29E8-E069-D20ECE24B26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697" y="5412542"/>
            <a:ext cx="361315" cy="291465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4373875E-EB1E-6F76-B961-FC25E5BC4CD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466531" y="5305862"/>
            <a:ext cx="6160135" cy="6771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小组成员共同完成后端开发及</a:t>
            </a:r>
            <a:r>
              <a:rPr lang="en-US" altLang="zh-CN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</a:t>
            </a:r>
            <a:r>
              <a:rPr lang="zh-CN" alt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工作流</a:t>
            </a:r>
            <a:endParaRPr lang="en-US" altLang="zh-CN" sz="1600" dirty="0"/>
          </a:p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722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技术栈与工具链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5" y="5187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7350" y="364617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使用工具</a:t>
            </a:r>
          </a:p>
        </p:txBody>
      </p:sp>
      <p:sp>
        <p:nvSpPr>
          <p:cNvPr id="5" name="Text 1"/>
          <p:cNvSpPr/>
          <p:nvPr/>
        </p:nvSpPr>
        <p:spPr>
          <a:xfrm>
            <a:off x="0" y="1981200"/>
            <a:ext cx="1219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573867" y="3835400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600" dirty="0"/>
          </a:p>
        </p:txBody>
      </p:sp>
      <p:sp>
        <p:nvSpPr>
          <p:cNvPr id="29" name="文本框 28"/>
          <p:cNvSpPr txBox="1"/>
          <p:nvPr/>
        </p:nvSpPr>
        <p:spPr>
          <a:xfrm>
            <a:off x="274320" y="1248092"/>
            <a:ext cx="11041380" cy="296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62000" indent="0" algn="just" defTabSz="266700">
              <a:lnSpc>
                <a:spcPct val="150000"/>
              </a:lnSpc>
              <a:spcBef>
                <a:spcPct val="0"/>
              </a:spcBef>
              <a:spcAft>
                <a:spcPts val="700"/>
              </a:spcAf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前后端分离开发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62000" indent="0" algn="just" defTabSz="266700">
              <a:lnSpc>
                <a:spcPct val="150000"/>
              </a:lnSpc>
              <a:spcBef>
                <a:spcPct val="0"/>
              </a:spcBef>
              <a:spcAft>
                <a:spcPts val="700"/>
              </a:spcAf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后端基于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python + flask ,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有状态登录由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jwt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实现， 采用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restful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风格设计</a:t>
            </a:r>
          </a:p>
          <a:p>
            <a:pPr marL="762000" indent="0" algn="just" defTabSz="266700">
              <a:lnSpc>
                <a:spcPct val="150000"/>
              </a:lnSpc>
              <a:spcBef>
                <a:spcPct val="0"/>
              </a:spcBef>
              <a:spcAft>
                <a:spcPts val="700"/>
              </a:spcAf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前端基于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Hbuilder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+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uni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-App + 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uni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-UI + vue3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的移动端页面调试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62000" indent="0" algn="just" defTabSz="266700">
              <a:lnSpc>
                <a:spcPct val="150000"/>
              </a:lnSpc>
              <a:spcBef>
                <a:spcPct val="0"/>
              </a:spcBef>
              <a:spcAft>
                <a:spcPts val="700"/>
              </a:spcAf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数据库采用</a:t>
            </a: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postgre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62000" indent="0" algn="just" defTabSz="266700">
              <a:lnSpc>
                <a:spcPct val="150000"/>
              </a:lnSpc>
              <a:spcBef>
                <a:spcPct val="0"/>
              </a:spcBef>
              <a:spcAft>
                <a:spcPts val="700"/>
              </a:spcAft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Yolo11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目标检测算法模型训练与部署</a:t>
            </a:r>
          </a:p>
          <a:p>
            <a:pPr marL="762000" indent="0" algn="just" defTabSz="266700">
              <a:lnSpc>
                <a:spcPct val="150000"/>
              </a:lnSpc>
              <a:spcBef>
                <a:spcPct val="0"/>
              </a:spcBef>
              <a:spcAft>
                <a:spcPts val="700"/>
              </a:spcAft>
            </a:pPr>
            <a:r>
              <a:rPr lang="en-US" altLang="zh-CN" b="1" dirty="0" err="1">
                <a:latin typeface="宋体" panose="02010600030101010101" pitchFamily="2" charset="-122"/>
                <a:ea typeface="宋体" panose="02010600030101010101" pitchFamily="2" charset="-122"/>
              </a:rPr>
              <a:t>Dify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工作流构建与调用</a:t>
            </a:r>
          </a:p>
        </p:txBody>
      </p:sp>
      <p:pic>
        <p:nvPicPr>
          <p:cNvPr id="35" name="图片 34"/>
          <p:cNvPicPr/>
          <p:nvPr/>
        </p:nvPicPr>
        <p:blipFill>
          <a:blip r:embed="rId5"/>
          <a:stretch>
            <a:fillRect/>
          </a:stretch>
        </p:blipFill>
        <p:spPr>
          <a:xfrm>
            <a:off x="622300" y="4603115"/>
            <a:ext cx="2098040" cy="2089150"/>
          </a:xfrm>
          <a:prstGeom prst="rect">
            <a:avLst/>
          </a:prstGeom>
        </p:spPr>
      </p:pic>
      <p:pic>
        <p:nvPicPr>
          <p:cNvPr id="36" name="图片 35"/>
          <p:cNvPicPr/>
          <p:nvPr/>
        </p:nvPicPr>
        <p:blipFill>
          <a:blip r:embed="rId6"/>
          <a:stretch>
            <a:fillRect/>
          </a:stretch>
        </p:blipFill>
        <p:spPr>
          <a:xfrm>
            <a:off x="5431155" y="4639945"/>
            <a:ext cx="2224405" cy="2023110"/>
          </a:xfrm>
          <a:prstGeom prst="rect">
            <a:avLst/>
          </a:prstGeom>
        </p:spPr>
      </p:pic>
      <p:pic>
        <p:nvPicPr>
          <p:cNvPr id="37" name="图片 36"/>
          <p:cNvPicPr/>
          <p:nvPr/>
        </p:nvPicPr>
        <p:blipFill>
          <a:blip r:embed="rId7"/>
          <a:stretch>
            <a:fillRect/>
          </a:stretch>
        </p:blipFill>
        <p:spPr>
          <a:xfrm>
            <a:off x="2990850" y="4603115"/>
            <a:ext cx="2108835" cy="1998980"/>
          </a:xfrm>
          <a:prstGeom prst="rect">
            <a:avLst/>
          </a:prstGeom>
        </p:spPr>
      </p:pic>
      <p:pic>
        <p:nvPicPr>
          <p:cNvPr id="38" name="图片 37"/>
          <p:cNvPicPr/>
          <p:nvPr/>
        </p:nvPicPr>
        <p:blipFill>
          <a:blip r:embed="rId8"/>
          <a:stretch>
            <a:fillRect/>
          </a:stretch>
        </p:blipFill>
        <p:spPr>
          <a:xfrm>
            <a:off x="9712960" y="4578985"/>
            <a:ext cx="2363470" cy="2113280"/>
          </a:xfrm>
          <a:prstGeom prst="rect">
            <a:avLst/>
          </a:prstGeom>
        </p:spPr>
      </p:pic>
      <p:pic>
        <p:nvPicPr>
          <p:cNvPr id="39" name="图片 38"/>
          <p:cNvPicPr/>
          <p:nvPr/>
        </p:nvPicPr>
        <p:blipFill>
          <a:blip r:embed="rId9"/>
          <a:stretch>
            <a:fillRect/>
          </a:stretch>
        </p:blipFill>
        <p:spPr>
          <a:xfrm>
            <a:off x="7802245" y="4639945"/>
            <a:ext cx="1962785" cy="1949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4224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前后端分离架构设计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0" y="1981200"/>
            <a:ext cx="1219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通过JSON接口解耦，降低联调成本，提升迭代效率。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3234267" y="30226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9050" y="76200"/>
                </a:moveTo>
                <a:cubicBezTo>
                  <a:pt x="19050" y="34171"/>
                  <a:pt x="53221" y="0"/>
                  <a:pt x="95250" y="0"/>
                </a:cubicBezTo>
                <a:lnTo>
                  <a:pt x="361950" y="0"/>
                </a:lnTo>
                <a:cubicBezTo>
                  <a:pt x="403979" y="0"/>
                  <a:pt x="438150" y="34171"/>
                  <a:pt x="438150" y="76200"/>
                </a:cubicBezTo>
                <a:lnTo>
                  <a:pt x="438150" y="533400"/>
                </a:lnTo>
                <a:cubicBezTo>
                  <a:pt x="438150" y="575429"/>
                  <a:pt x="403979" y="609600"/>
                  <a:pt x="361950" y="609600"/>
                </a:cubicBezTo>
                <a:lnTo>
                  <a:pt x="95250" y="609600"/>
                </a:lnTo>
                <a:cubicBezTo>
                  <a:pt x="53221" y="609600"/>
                  <a:pt x="19050" y="575429"/>
                  <a:pt x="19050" y="533400"/>
                </a:cubicBezTo>
                <a:lnTo>
                  <a:pt x="19050" y="76200"/>
                </a:lnTo>
                <a:close/>
                <a:moveTo>
                  <a:pt x="95250" y="76200"/>
                </a:moveTo>
                <a:lnTo>
                  <a:pt x="95250" y="438150"/>
                </a:lnTo>
                <a:lnTo>
                  <a:pt x="361950" y="438150"/>
                </a:lnTo>
                <a:lnTo>
                  <a:pt x="361950" y="76200"/>
                </a:lnTo>
                <a:lnTo>
                  <a:pt x="95250" y="76200"/>
                </a:lnTo>
                <a:close/>
                <a:moveTo>
                  <a:pt x="228600" y="561975"/>
                </a:moveTo>
                <a:cubicBezTo>
                  <a:pt x="249674" y="561975"/>
                  <a:pt x="266700" y="544949"/>
                  <a:pt x="266700" y="523875"/>
                </a:cubicBezTo>
                <a:cubicBezTo>
                  <a:pt x="266700" y="502801"/>
                  <a:pt x="249674" y="485775"/>
                  <a:pt x="228600" y="485775"/>
                </a:cubicBezTo>
                <a:cubicBezTo>
                  <a:pt x="207526" y="485775"/>
                  <a:pt x="190500" y="502801"/>
                  <a:pt x="190500" y="523875"/>
                </a:cubicBezTo>
                <a:cubicBezTo>
                  <a:pt x="190500" y="544949"/>
                  <a:pt x="207526" y="561975"/>
                  <a:pt x="228600" y="561975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7" name="Text 3"/>
          <p:cNvSpPr/>
          <p:nvPr/>
        </p:nvSpPr>
        <p:spPr>
          <a:xfrm>
            <a:off x="2573867" y="3835400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前端交互层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718733" y="4292600"/>
            <a:ext cx="3492500" cy="812800"/>
          </a:xfrm>
          <a:custGeom>
            <a:avLst/>
            <a:gdLst/>
            <a:ahLst/>
            <a:cxnLst/>
            <a:rect l="l" t="t" r="r" b="b"/>
            <a:pathLst>
              <a:path w="3492500" h="812800">
                <a:moveTo>
                  <a:pt x="101600" y="0"/>
                </a:moveTo>
                <a:lnTo>
                  <a:pt x="3390900" y="0"/>
                </a:lnTo>
                <a:cubicBezTo>
                  <a:pt x="3446975" y="0"/>
                  <a:pt x="3492500" y="45525"/>
                  <a:pt x="3492500" y="101600"/>
                </a:cubicBezTo>
                <a:lnTo>
                  <a:pt x="3492500" y="711200"/>
                </a:lnTo>
                <a:cubicBezTo>
                  <a:pt x="3492500" y="767275"/>
                  <a:pt x="3446975" y="812800"/>
                  <a:pt x="33909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1718733" y="4292600"/>
            <a:ext cx="3492500" cy="812800"/>
          </a:xfrm>
          <a:prstGeom prst="rect">
            <a:avLst/>
          </a:prstGeom>
          <a:noFill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采用Uni-App，一套代码编译至多端，通过Vue与Ajax实现数据实时交互。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753100" y="37592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D1D5DC"/>
          </a:solidFill>
        </p:spPr>
      </p:sp>
      <p:sp>
        <p:nvSpPr>
          <p:cNvPr id="11" name="Shape 7"/>
          <p:cNvSpPr/>
          <p:nvPr/>
        </p:nvSpPr>
        <p:spPr>
          <a:xfrm>
            <a:off x="8462434" y="28956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12" name="Text 8"/>
          <p:cNvSpPr/>
          <p:nvPr/>
        </p:nvSpPr>
        <p:spPr>
          <a:xfrm>
            <a:off x="7840134" y="3708400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后端服务层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985000" y="4165600"/>
            <a:ext cx="3492500" cy="1066800"/>
          </a:xfrm>
          <a:custGeom>
            <a:avLst/>
            <a:gdLst/>
            <a:ahLst/>
            <a:cxnLst/>
            <a:rect l="l" t="t" r="r" b="b"/>
            <a:pathLst>
              <a:path w="3492500" h="1066800">
                <a:moveTo>
                  <a:pt x="101602" y="0"/>
                </a:moveTo>
                <a:lnTo>
                  <a:pt x="3390898" y="0"/>
                </a:lnTo>
                <a:cubicBezTo>
                  <a:pt x="3447011" y="0"/>
                  <a:pt x="3492500" y="45489"/>
                  <a:pt x="3492500" y="101602"/>
                </a:cubicBezTo>
                <a:lnTo>
                  <a:pt x="3492500" y="965198"/>
                </a:lnTo>
                <a:cubicBezTo>
                  <a:pt x="3492500" y="1021311"/>
                  <a:pt x="3447011" y="1066800"/>
                  <a:pt x="33908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</p:spPr>
      </p:sp>
      <p:sp>
        <p:nvSpPr>
          <p:cNvPr id="14" name="Text 10"/>
          <p:cNvSpPr/>
          <p:nvPr/>
        </p:nvSpPr>
        <p:spPr>
          <a:xfrm>
            <a:off x="6985000" y="4165600"/>
            <a:ext cx="3492500" cy="1066800"/>
          </a:xfrm>
          <a:prstGeom prst="rect">
            <a:avLst/>
          </a:prstGeom>
          <a:noFill/>
        </p:spPr>
        <p:txBody>
          <a:bodyPr wrap="square" lIns="152400" tIns="152400" rIns="152400" bIns="15240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基于Python Flask搭建RESTful API，集成Peewee ORM，提供数据持久化与业务逻辑。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0922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AI算法与低代码工作流平台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070600" y="1955800"/>
            <a:ext cx="0" cy="3810000"/>
          </a:xfrm>
          <a:prstGeom prst="line">
            <a:avLst/>
          </a:prstGeom>
          <a:noFill/>
          <a:ln w="25400">
            <a:solidFill>
              <a:srgbClr val="A8D0F5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28575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42875" y="66675"/>
                </a:moveTo>
                <a:cubicBezTo>
                  <a:pt x="142875" y="29885"/>
                  <a:pt x="172760" y="0"/>
                  <a:pt x="209550" y="0"/>
                </a:cubicBezTo>
                <a:lnTo>
                  <a:pt x="238125" y="0"/>
                </a:lnTo>
                <a:cubicBezTo>
                  <a:pt x="259199" y="0"/>
                  <a:pt x="276225" y="17026"/>
                  <a:pt x="276225" y="38100"/>
                </a:cubicBezTo>
                <a:lnTo>
                  <a:pt x="276225" y="571500"/>
                </a:lnTo>
                <a:cubicBezTo>
                  <a:pt x="276225" y="592574"/>
                  <a:pt x="259199" y="609600"/>
                  <a:pt x="238125" y="609600"/>
                </a:cubicBezTo>
                <a:lnTo>
                  <a:pt x="200025" y="609600"/>
                </a:lnTo>
                <a:cubicBezTo>
                  <a:pt x="164544" y="609600"/>
                  <a:pt x="134660" y="585311"/>
                  <a:pt x="126206" y="552450"/>
                </a:cubicBezTo>
                <a:cubicBezTo>
                  <a:pt x="125373" y="552450"/>
                  <a:pt x="124658" y="552450"/>
                  <a:pt x="123825" y="552450"/>
                </a:cubicBezTo>
                <a:cubicBezTo>
                  <a:pt x="71199" y="552450"/>
                  <a:pt x="28575" y="509826"/>
                  <a:pt x="28575" y="457200"/>
                </a:cubicBezTo>
                <a:cubicBezTo>
                  <a:pt x="28575" y="435769"/>
                  <a:pt x="35719" y="416004"/>
                  <a:pt x="47625" y="400050"/>
                </a:cubicBezTo>
                <a:cubicBezTo>
                  <a:pt x="24527" y="382667"/>
                  <a:pt x="9525" y="355044"/>
                  <a:pt x="9525" y="323850"/>
                </a:cubicBezTo>
                <a:cubicBezTo>
                  <a:pt x="9525" y="287060"/>
                  <a:pt x="30480" y="255032"/>
                  <a:pt x="60960" y="239197"/>
                </a:cubicBezTo>
                <a:cubicBezTo>
                  <a:pt x="52507" y="224909"/>
                  <a:pt x="47625" y="208240"/>
                  <a:pt x="47625" y="190500"/>
                </a:cubicBezTo>
                <a:cubicBezTo>
                  <a:pt x="47625" y="137874"/>
                  <a:pt x="90249" y="95250"/>
                  <a:pt x="142875" y="95250"/>
                </a:cubicBezTo>
                <a:lnTo>
                  <a:pt x="142875" y="66675"/>
                </a:lnTo>
                <a:close/>
                <a:moveTo>
                  <a:pt x="466725" y="66675"/>
                </a:moveTo>
                <a:lnTo>
                  <a:pt x="466725" y="95250"/>
                </a:lnTo>
                <a:cubicBezTo>
                  <a:pt x="519351" y="95250"/>
                  <a:pt x="561975" y="137874"/>
                  <a:pt x="561975" y="190500"/>
                </a:cubicBezTo>
                <a:cubicBezTo>
                  <a:pt x="561975" y="208359"/>
                  <a:pt x="557093" y="225028"/>
                  <a:pt x="548640" y="239197"/>
                </a:cubicBezTo>
                <a:cubicBezTo>
                  <a:pt x="579239" y="255032"/>
                  <a:pt x="600075" y="286941"/>
                  <a:pt x="600075" y="323850"/>
                </a:cubicBezTo>
                <a:cubicBezTo>
                  <a:pt x="600075" y="355044"/>
                  <a:pt x="585073" y="382667"/>
                  <a:pt x="561975" y="400050"/>
                </a:cubicBezTo>
                <a:cubicBezTo>
                  <a:pt x="573881" y="416004"/>
                  <a:pt x="581025" y="435769"/>
                  <a:pt x="581025" y="457200"/>
                </a:cubicBezTo>
                <a:cubicBezTo>
                  <a:pt x="581025" y="509826"/>
                  <a:pt x="538401" y="552450"/>
                  <a:pt x="485775" y="552450"/>
                </a:cubicBezTo>
                <a:cubicBezTo>
                  <a:pt x="484942" y="552450"/>
                  <a:pt x="484227" y="552450"/>
                  <a:pt x="483394" y="552450"/>
                </a:cubicBezTo>
                <a:cubicBezTo>
                  <a:pt x="474940" y="585311"/>
                  <a:pt x="445056" y="609600"/>
                  <a:pt x="409575" y="609600"/>
                </a:cubicBezTo>
                <a:lnTo>
                  <a:pt x="371475" y="609600"/>
                </a:lnTo>
                <a:cubicBezTo>
                  <a:pt x="350401" y="609600"/>
                  <a:pt x="333375" y="592574"/>
                  <a:pt x="333375" y="571500"/>
                </a:cubicBezTo>
                <a:lnTo>
                  <a:pt x="333375" y="38100"/>
                </a:lnTo>
                <a:cubicBezTo>
                  <a:pt x="333375" y="17026"/>
                  <a:pt x="350401" y="0"/>
                  <a:pt x="371475" y="0"/>
                </a:cubicBezTo>
                <a:lnTo>
                  <a:pt x="400050" y="0"/>
                </a:lnTo>
                <a:cubicBezTo>
                  <a:pt x="436840" y="0"/>
                  <a:pt x="466725" y="29885"/>
                  <a:pt x="466725" y="66675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7" name="Text 3"/>
          <p:cNvSpPr/>
          <p:nvPr/>
        </p:nvSpPr>
        <p:spPr>
          <a:xfrm>
            <a:off x="2530872" y="3784600"/>
            <a:ext cx="1765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AI算法核心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4241800"/>
            <a:ext cx="54102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检测核心选用YOLOv11，兼顾精度与速度。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调用DeepSeek</a:t>
            </a: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API进行语义增强，降低误报。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712200" y="297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95250"/>
                </a:moveTo>
                <a:cubicBezTo>
                  <a:pt x="0" y="63698"/>
                  <a:pt x="25598" y="38100"/>
                  <a:pt x="57150" y="38100"/>
                </a:cubicBezTo>
                <a:lnTo>
                  <a:pt x="171450" y="38100"/>
                </a:lnTo>
                <a:cubicBezTo>
                  <a:pt x="203002" y="38100"/>
                  <a:pt x="228600" y="63698"/>
                  <a:pt x="228600" y="95250"/>
                </a:cubicBezTo>
                <a:lnTo>
                  <a:pt x="228600" y="114300"/>
                </a:lnTo>
                <a:lnTo>
                  <a:pt x="381000" y="114300"/>
                </a:lnTo>
                <a:lnTo>
                  <a:pt x="381000" y="95250"/>
                </a:lnTo>
                <a:cubicBezTo>
                  <a:pt x="381000" y="63698"/>
                  <a:pt x="406598" y="38100"/>
                  <a:pt x="43815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209550"/>
                </a:lnTo>
                <a:cubicBezTo>
                  <a:pt x="609600" y="241102"/>
                  <a:pt x="584002" y="266700"/>
                  <a:pt x="552450" y="266700"/>
                </a:cubicBezTo>
                <a:lnTo>
                  <a:pt x="438150" y="266700"/>
                </a:lnTo>
                <a:cubicBezTo>
                  <a:pt x="406598" y="266700"/>
                  <a:pt x="381000" y="241102"/>
                  <a:pt x="381000" y="209550"/>
                </a:cubicBezTo>
                <a:lnTo>
                  <a:pt x="381000" y="190500"/>
                </a:lnTo>
                <a:lnTo>
                  <a:pt x="228600" y="190500"/>
                </a:lnTo>
                <a:lnTo>
                  <a:pt x="228600" y="209550"/>
                </a:lnTo>
                <a:cubicBezTo>
                  <a:pt x="228600" y="218242"/>
                  <a:pt x="226576" y="226576"/>
                  <a:pt x="223123" y="233958"/>
                </a:cubicBezTo>
                <a:lnTo>
                  <a:pt x="304800" y="342900"/>
                </a:lnTo>
                <a:lnTo>
                  <a:pt x="400050" y="342900"/>
                </a:lnTo>
                <a:cubicBezTo>
                  <a:pt x="431602" y="342900"/>
                  <a:pt x="457200" y="368498"/>
                  <a:pt x="457200" y="400050"/>
                </a:cubicBezTo>
                <a:lnTo>
                  <a:pt x="457200" y="514350"/>
                </a:lnTo>
                <a:cubicBezTo>
                  <a:pt x="457200" y="545902"/>
                  <a:pt x="431602" y="571500"/>
                  <a:pt x="400050" y="571500"/>
                </a:cubicBezTo>
                <a:lnTo>
                  <a:pt x="285750" y="571500"/>
                </a:lnTo>
                <a:cubicBezTo>
                  <a:pt x="254198" y="571500"/>
                  <a:pt x="228600" y="545902"/>
                  <a:pt x="228600" y="514350"/>
                </a:cubicBezTo>
                <a:lnTo>
                  <a:pt x="228600" y="400050"/>
                </a:lnTo>
                <a:cubicBezTo>
                  <a:pt x="228600" y="391358"/>
                  <a:pt x="230624" y="383024"/>
                  <a:pt x="234077" y="375642"/>
                </a:cubicBezTo>
                <a:lnTo>
                  <a:pt x="152400" y="266700"/>
                </a:lnTo>
                <a:lnTo>
                  <a:pt x="57150" y="266700"/>
                </a:lnTo>
                <a:cubicBezTo>
                  <a:pt x="25598" y="266700"/>
                  <a:pt x="0" y="241102"/>
                  <a:pt x="0" y="2095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3A7BD5"/>
          </a:solidFill>
        </p:spPr>
      </p:sp>
      <p:sp>
        <p:nvSpPr>
          <p:cNvPr id="10" name="Text 6"/>
          <p:cNvSpPr/>
          <p:nvPr/>
        </p:nvSpPr>
        <p:spPr>
          <a:xfrm>
            <a:off x="8255000" y="3784600"/>
            <a:ext cx="203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低代码工作流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99200" y="4241800"/>
            <a:ext cx="5435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采用Dify平台，将模型调用、结果校验等封装为可视化流程，实现零代码运维，显著缩短算法到业务的落地路径。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9050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数据标注与模型托管 Pipeline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1371600" y="2768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77679" y="46553"/>
                </a:moveTo>
                <a:lnTo>
                  <a:pt x="654129" y="225504"/>
                </a:lnTo>
                <a:cubicBezTo>
                  <a:pt x="687110" y="258961"/>
                  <a:pt x="687110" y="312539"/>
                  <a:pt x="654129" y="345996"/>
                </a:cubicBezTo>
                <a:lnTo>
                  <a:pt x="467916" y="534472"/>
                </a:lnTo>
                <a:cubicBezTo>
                  <a:pt x="456843" y="545663"/>
                  <a:pt x="438745" y="545782"/>
                  <a:pt x="427553" y="534710"/>
                </a:cubicBezTo>
                <a:cubicBezTo>
                  <a:pt x="416362" y="523637"/>
                  <a:pt x="416243" y="505539"/>
                  <a:pt x="427315" y="494348"/>
                </a:cubicBezTo>
                <a:lnTo>
                  <a:pt x="613529" y="305753"/>
                </a:lnTo>
                <a:cubicBezTo>
                  <a:pt x="624483" y="294680"/>
                  <a:pt x="624483" y="276701"/>
                  <a:pt x="613529" y="265628"/>
                </a:cubicBezTo>
                <a:lnTo>
                  <a:pt x="436959" y="86797"/>
                </a:lnTo>
                <a:cubicBezTo>
                  <a:pt x="425887" y="75605"/>
                  <a:pt x="426006" y="57507"/>
                  <a:pt x="437197" y="46434"/>
                </a:cubicBezTo>
                <a:cubicBezTo>
                  <a:pt x="448389" y="35362"/>
                  <a:pt x="466487" y="35481"/>
                  <a:pt x="477560" y="46673"/>
                </a:cubicBezTo>
                <a:close/>
                <a:moveTo>
                  <a:pt x="38219" y="273248"/>
                </a:moveTo>
                <a:lnTo>
                  <a:pt x="38219" y="114300"/>
                </a:lnTo>
                <a:cubicBezTo>
                  <a:pt x="38219" y="72271"/>
                  <a:pt x="72390" y="38100"/>
                  <a:pt x="114419" y="38100"/>
                </a:cubicBezTo>
                <a:lnTo>
                  <a:pt x="273368" y="38100"/>
                </a:lnTo>
                <a:cubicBezTo>
                  <a:pt x="293608" y="38100"/>
                  <a:pt x="313015" y="46077"/>
                  <a:pt x="327303" y="60365"/>
                </a:cubicBezTo>
                <a:lnTo>
                  <a:pt x="498753" y="231815"/>
                </a:lnTo>
                <a:cubicBezTo>
                  <a:pt x="528518" y="261580"/>
                  <a:pt x="528518" y="309801"/>
                  <a:pt x="498753" y="339566"/>
                </a:cubicBezTo>
                <a:lnTo>
                  <a:pt x="339804" y="498515"/>
                </a:lnTo>
                <a:cubicBezTo>
                  <a:pt x="310039" y="528280"/>
                  <a:pt x="261818" y="528280"/>
                  <a:pt x="232053" y="498515"/>
                </a:cubicBezTo>
                <a:lnTo>
                  <a:pt x="60603" y="327065"/>
                </a:lnTo>
                <a:cubicBezTo>
                  <a:pt x="46315" y="312777"/>
                  <a:pt x="38338" y="293370"/>
                  <a:pt x="38338" y="273129"/>
                </a:cubicBezTo>
                <a:close/>
                <a:moveTo>
                  <a:pt x="209669" y="171450"/>
                </a:moveTo>
                <a:cubicBezTo>
                  <a:pt x="209669" y="150422"/>
                  <a:pt x="192597" y="133350"/>
                  <a:pt x="171569" y="133350"/>
                </a:cubicBezTo>
                <a:cubicBezTo>
                  <a:pt x="150541" y="133350"/>
                  <a:pt x="133469" y="150422"/>
                  <a:pt x="133469" y="171450"/>
                </a:cubicBezTo>
                <a:cubicBezTo>
                  <a:pt x="133469" y="192478"/>
                  <a:pt x="150541" y="209550"/>
                  <a:pt x="171569" y="209550"/>
                </a:cubicBezTo>
                <a:cubicBezTo>
                  <a:pt x="192597" y="209550"/>
                  <a:pt x="209669" y="192478"/>
                  <a:pt x="209669" y="171450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6" name="Text 2"/>
          <p:cNvSpPr/>
          <p:nvPr/>
        </p:nvSpPr>
        <p:spPr>
          <a:xfrm>
            <a:off x="1003300" y="35306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数据标注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54000" y="3937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使用Label Studio进行多人协同标注与质检。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762375" y="31242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277803" y="208419"/>
                </a:moveTo>
                <a:cubicBezTo>
                  <a:pt x="288965" y="219581"/>
                  <a:pt x="288965" y="237708"/>
                  <a:pt x="277803" y="248870"/>
                </a:cubicBezTo>
                <a:lnTo>
                  <a:pt x="106353" y="420320"/>
                </a:lnTo>
                <a:cubicBezTo>
                  <a:pt x="95190" y="431483"/>
                  <a:pt x="77063" y="431483"/>
                  <a:pt x="65901" y="420320"/>
                </a:cubicBezTo>
                <a:cubicBezTo>
                  <a:pt x="54739" y="409158"/>
                  <a:pt x="54739" y="391031"/>
                  <a:pt x="65901" y="379869"/>
                </a:cubicBezTo>
                <a:lnTo>
                  <a:pt x="217170" y="228600"/>
                </a:lnTo>
                <a:lnTo>
                  <a:pt x="65990" y="77331"/>
                </a:lnTo>
                <a:cubicBezTo>
                  <a:pt x="54828" y="66169"/>
                  <a:pt x="54828" y="48042"/>
                  <a:pt x="65990" y="36880"/>
                </a:cubicBezTo>
                <a:cubicBezTo>
                  <a:pt x="77153" y="25717"/>
                  <a:pt x="95280" y="25717"/>
                  <a:pt x="106442" y="36880"/>
                </a:cubicBezTo>
                <a:lnTo>
                  <a:pt x="277892" y="208330"/>
                </a:lnTo>
                <a:close/>
              </a:path>
            </a:pathLst>
          </a:custGeom>
          <a:solidFill>
            <a:srgbClr val="D1D5DC"/>
          </a:solidFill>
        </p:spPr>
      </p:sp>
      <p:sp>
        <p:nvSpPr>
          <p:cNvPr id="9" name="Shape 5"/>
          <p:cNvSpPr/>
          <p:nvPr/>
        </p:nvSpPr>
        <p:spPr>
          <a:xfrm>
            <a:off x="5715000" y="27686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10" name="Text 6"/>
          <p:cNvSpPr/>
          <p:nvPr/>
        </p:nvSpPr>
        <p:spPr>
          <a:xfrm>
            <a:off x="5384800" y="35306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35500" y="3937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在Ubuntu + RTX 4070服务器上训练，使用W&amp;B追踪。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143875" y="31242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277803" y="208419"/>
                </a:moveTo>
                <a:cubicBezTo>
                  <a:pt x="288965" y="219581"/>
                  <a:pt x="288965" y="237708"/>
                  <a:pt x="277803" y="248870"/>
                </a:cubicBezTo>
                <a:lnTo>
                  <a:pt x="106353" y="420320"/>
                </a:lnTo>
                <a:cubicBezTo>
                  <a:pt x="95190" y="431483"/>
                  <a:pt x="77063" y="431483"/>
                  <a:pt x="65901" y="420320"/>
                </a:cubicBezTo>
                <a:cubicBezTo>
                  <a:pt x="54739" y="409158"/>
                  <a:pt x="54739" y="391031"/>
                  <a:pt x="65901" y="379869"/>
                </a:cubicBezTo>
                <a:lnTo>
                  <a:pt x="217170" y="228600"/>
                </a:lnTo>
                <a:lnTo>
                  <a:pt x="65990" y="77331"/>
                </a:lnTo>
                <a:cubicBezTo>
                  <a:pt x="54828" y="66169"/>
                  <a:pt x="54828" y="48042"/>
                  <a:pt x="65990" y="36880"/>
                </a:cubicBezTo>
                <a:cubicBezTo>
                  <a:pt x="77153" y="25717"/>
                  <a:pt x="95280" y="25717"/>
                  <a:pt x="106442" y="36880"/>
                </a:cubicBezTo>
                <a:lnTo>
                  <a:pt x="277892" y="208330"/>
                </a:lnTo>
                <a:close/>
              </a:path>
            </a:pathLst>
          </a:custGeom>
          <a:solidFill>
            <a:srgbClr val="D1D5DC"/>
          </a:solidFill>
        </p:spPr>
      </p:sp>
      <p:sp>
        <p:nvSpPr>
          <p:cNvPr id="13" name="Shape 9"/>
          <p:cNvSpPr/>
          <p:nvPr/>
        </p:nvSpPr>
        <p:spPr>
          <a:xfrm>
            <a:off x="10134600" y="2768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171450" y="571500"/>
                </a:moveTo>
                <a:cubicBezTo>
                  <a:pt x="76795" y="571500"/>
                  <a:pt x="0" y="494705"/>
                  <a:pt x="0" y="400050"/>
                </a:cubicBezTo>
                <a:cubicBezTo>
                  <a:pt x="0" y="324564"/>
                  <a:pt x="48816" y="260509"/>
                  <a:pt x="116562" y="237530"/>
                </a:cubicBezTo>
                <a:cubicBezTo>
                  <a:pt x="115014" y="228362"/>
                  <a:pt x="114300" y="219075"/>
                  <a:pt x="114300" y="209550"/>
                </a:cubicBezTo>
                <a:cubicBezTo>
                  <a:pt x="114300" y="114895"/>
                  <a:pt x="191095" y="38100"/>
                  <a:pt x="285750" y="38100"/>
                </a:cubicBezTo>
                <a:cubicBezTo>
                  <a:pt x="351711" y="38100"/>
                  <a:pt x="408980" y="75367"/>
                  <a:pt x="437674" y="129897"/>
                </a:cubicBezTo>
                <a:cubicBezTo>
                  <a:pt x="454581" y="120015"/>
                  <a:pt x="474345" y="114300"/>
                  <a:pt x="495300" y="114300"/>
                </a:cubicBezTo>
                <a:cubicBezTo>
                  <a:pt x="558403" y="114300"/>
                  <a:pt x="609600" y="165497"/>
                  <a:pt x="609600" y="228600"/>
                </a:cubicBezTo>
                <a:cubicBezTo>
                  <a:pt x="609600" y="247293"/>
                  <a:pt x="605076" y="265033"/>
                  <a:pt x="597098" y="280630"/>
                </a:cubicBezTo>
                <a:cubicBezTo>
                  <a:pt x="649486" y="304800"/>
                  <a:pt x="685800" y="357664"/>
                  <a:pt x="685800" y="419100"/>
                </a:cubicBezTo>
                <a:cubicBezTo>
                  <a:pt x="685800" y="503277"/>
                  <a:pt x="617577" y="571500"/>
                  <a:pt x="533400" y="571500"/>
                </a:cubicBezTo>
                <a:lnTo>
                  <a:pt x="171450" y="571500"/>
                </a:lnTo>
                <a:close/>
                <a:moveTo>
                  <a:pt x="363141" y="227409"/>
                </a:moveTo>
                <a:cubicBezTo>
                  <a:pt x="351949" y="216218"/>
                  <a:pt x="333851" y="216218"/>
                  <a:pt x="322778" y="227409"/>
                </a:cubicBezTo>
                <a:lnTo>
                  <a:pt x="237053" y="313134"/>
                </a:lnTo>
                <a:cubicBezTo>
                  <a:pt x="225862" y="324326"/>
                  <a:pt x="225862" y="342424"/>
                  <a:pt x="237053" y="353497"/>
                </a:cubicBezTo>
                <a:cubicBezTo>
                  <a:pt x="248245" y="364569"/>
                  <a:pt x="266343" y="364688"/>
                  <a:pt x="277416" y="353497"/>
                </a:cubicBezTo>
                <a:lnTo>
                  <a:pt x="314325" y="316587"/>
                </a:lnTo>
                <a:lnTo>
                  <a:pt x="314325" y="438150"/>
                </a:lnTo>
                <a:cubicBezTo>
                  <a:pt x="314325" y="453985"/>
                  <a:pt x="327065" y="466725"/>
                  <a:pt x="342900" y="466725"/>
                </a:cubicBezTo>
                <a:cubicBezTo>
                  <a:pt x="358735" y="466725"/>
                  <a:pt x="371475" y="453985"/>
                  <a:pt x="371475" y="438150"/>
                </a:cubicBezTo>
                <a:lnTo>
                  <a:pt x="371475" y="316587"/>
                </a:lnTo>
                <a:lnTo>
                  <a:pt x="408384" y="353497"/>
                </a:lnTo>
                <a:cubicBezTo>
                  <a:pt x="419576" y="364688"/>
                  <a:pt x="437674" y="364688"/>
                  <a:pt x="448747" y="353497"/>
                </a:cubicBezTo>
                <a:cubicBezTo>
                  <a:pt x="459819" y="342305"/>
                  <a:pt x="459938" y="324207"/>
                  <a:pt x="448747" y="313134"/>
                </a:cubicBezTo>
                <a:lnTo>
                  <a:pt x="363022" y="227409"/>
                </a:lnTo>
                <a:close/>
              </a:path>
            </a:pathLst>
          </a:custGeom>
          <a:solidFill>
            <a:srgbClr val="3A7BD5"/>
          </a:solidFill>
        </p:spPr>
      </p:sp>
      <p:sp>
        <p:nvSpPr>
          <p:cNvPr id="14" name="Text 10"/>
          <p:cNvSpPr/>
          <p:nvPr/>
        </p:nvSpPr>
        <p:spPr>
          <a:xfrm>
            <a:off x="9766300" y="3530600"/>
            <a:ext cx="1422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模型托管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017000" y="3937000"/>
            <a:ext cx="2921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模型上传至Dify仓库，通过REST API供后端调用。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54000" y="4851400"/>
            <a:ext cx="11684000" cy="101600"/>
          </a:xfrm>
          <a:custGeom>
            <a:avLst/>
            <a:gdLst/>
            <a:ahLst/>
            <a:cxnLst/>
            <a:rect l="l" t="t" r="r" b="b"/>
            <a:pathLst>
              <a:path w="11684000" h="101600">
                <a:moveTo>
                  <a:pt x="50800" y="0"/>
                </a:moveTo>
                <a:lnTo>
                  <a:pt x="11633200" y="0"/>
                </a:lnTo>
                <a:cubicBezTo>
                  <a:pt x="11661237" y="0"/>
                  <a:pt x="11684000" y="22763"/>
                  <a:pt x="11684000" y="50800"/>
                </a:cubicBezTo>
                <a:lnTo>
                  <a:pt x="11684000" y="50800"/>
                </a:lnTo>
                <a:cubicBezTo>
                  <a:pt x="11684000" y="78837"/>
                  <a:pt x="11661237" y="101600"/>
                  <a:pt x="11633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8D0F5">
              <a:alpha val="50196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254000" y="4851400"/>
            <a:ext cx="11684000" cy="101600"/>
          </a:xfrm>
          <a:custGeom>
            <a:avLst/>
            <a:gdLst/>
            <a:ahLst/>
            <a:cxnLst/>
            <a:rect l="l" t="t" r="r" b="b"/>
            <a:pathLst>
              <a:path w="11684000" h="101600">
                <a:moveTo>
                  <a:pt x="50800" y="0"/>
                </a:moveTo>
                <a:lnTo>
                  <a:pt x="11633200" y="0"/>
                </a:lnTo>
                <a:cubicBezTo>
                  <a:pt x="11661237" y="0"/>
                  <a:pt x="11684000" y="22763"/>
                  <a:pt x="11684000" y="50800"/>
                </a:cubicBezTo>
                <a:lnTo>
                  <a:pt x="11684000" y="50800"/>
                </a:lnTo>
                <a:cubicBezTo>
                  <a:pt x="11684000" y="78837"/>
                  <a:pt x="11661237" y="101600"/>
                  <a:pt x="11633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A7BD5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 err="1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AI工作流</a:t>
            </a:r>
            <a:r>
              <a:rPr lang="zh-CN" alt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</a:t>
            </a:r>
            <a:endParaRPr lang="en-US" sz="1600" b="1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rgbClr val="F3F4F6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38B3B-7BEA-EC41-00BA-DD34D737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
            <a:extLst>
              <a:ext uri="{FF2B5EF4-FFF2-40B4-BE49-F238E27FC236}">
                <a16:creationId xmlns:a16="http://schemas.microsoft.com/office/drawing/2014/main" id="{FFB0ABD4-F8ED-5C40-371B-08C28E82C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
            <a:extLst>
              <a:ext uri="{FF2B5EF4-FFF2-40B4-BE49-F238E27FC236}">
                <a16:creationId xmlns:a16="http://schemas.microsoft.com/office/drawing/2014/main" id="{AA89D49B-B6FA-03F4-70EF-F0F2E7DE3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E4F242A-A27C-AEF9-235F-0C11DC30E135}"/>
              </a:ext>
            </a:extLst>
          </p:cNvPr>
          <p:cNvSpPr/>
          <p:nvPr/>
        </p:nvSpPr>
        <p:spPr>
          <a:xfrm>
            <a:off x="948764" y="396240"/>
            <a:ext cx="518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延迟航班预测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1853BCED-AD2D-885D-53C7-09E596026242}"/>
              </a:ext>
            </a:extLst>
          </p:cNvPr>
          <p:cNvSpPr/>
          <p:nvPr/>
        </p:nvSpPr>
        <p:spPr>
          <a:xfrm>
            <a:off x="427485" y="1238402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3A7BD5"/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762FF45-3B45-F8E8-5C27-AE49DA98F770}"/>
              </a:ext>
            </a:extLst>
          </p:cNvPr>
          <p:cNvSpPr/>
          <p:nvPr/>
        </p:nvSpPr>
        <p:spPr>
          <a:xfrm>
            <a:off x="948764" y="866140"/>
            <a:ext cx="6809273" cy="1831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检索</a:t>
            </a:r>
            <a:r>
              <a:rPr lang="en-US" altLang="zh-CN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《</a:t>
            </a:r>
            <a:r>
              <a:rPr lang="zh-CN" alt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民航行业发展统计公报</a:t>
            </a:r>
            <a:r>
              <a:rPr lang="en-US" altLang="zh-CN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》</a:t>
            </a:r>
            <a:r>
              <a:rPr lang="zh-CN" alt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知识库，获得年度航班正常率。</a:t>
            </a:r>
            <a:endParaRPr lang="en-US" altLang="zh-CN" sz="24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结合</a:t>
            </a:r>
            <a:r>
              <a:rPr lang="en-US" altLang="zh-CN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AI</a:t>
            </a:r>
            <a:r>
              <a:rPr lang="zh-CN" altLang="en-US" sz="24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分析与年度航班正常率数据获得最终结果</a:t>
            </a:r>
            <a:endParaRPr lang="en-US" sz="24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1164F1C-23A5-37B1-45A3-C4CC913FD757}"/>
              </a:ext>
            </a:extLst>
          </p:cNvPr>
          <p:cNvSpPr/>
          <p:nvPr/>
        </p:nvSpPr>
        <p:spPr>
          <a:xfrm>
            <a:off x="442595" y="210660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A7BD5"/>
          </a:solidFill>
        </p:spPr>
        <p:txBody>
          <a:bodyPr/>
          <a:lstStyle/>
          <a:p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606BA9C-68A9-BF54-C1CF-CA0968E80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185" y="2591552"/>
            <a:ext cx="8067674" cy="346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2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模型训练与优化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4000" y="1828800"/>
            <a:ext cx="518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研究价值与业务痛点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292100" y="2428875"/>
            <a:ext cx="4673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传统安检依赖人工，面临</a:t>
            </a:r>
            <a:r>
              <a:rPr lang="en-US" sz="1600" dirty="0">
                <a:solidFill>
                  <a:srgbClr val="004080"/>
                </a:solidFill>
                <a:highlight>
                  <a:srgbClr val="A8D0F5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效率低、易疲劳、漏检率高 </a:t>
            </a:r>
            <a:r>
              <a:rPr lang="en-US" sz="16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三大核心痛点，难以满足现代机场高效、安全的运营需求。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311150" y="3810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7" name="Text 3"/>
          <p:cNvSpPr/>
          <p:nvPr/>
        </p:nvSpPr>
        <p:spPr>
          <a:xfrm>
            <a:off x="787400" y="3708400"/>
            <a:ext cx="3695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效率革命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87400" y="4013200"/>
            <a:ext cx="369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AI毫秒级识别，显著提升通道通行效率。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2921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A7BD5"/>
          </a:solidFill>
        </p:spPr>
      </p:sp>
      <p:sp>
        <p:nvSpPr>
          <p:cNvPr id="10" name="Text 6"/>
          <p:cNvSpPr/>
          <p:nvPr/>
        </p:nvSpPr>
        <p:spPr>
          <a:xfrm>
            <a:off x="787400" y="4470400"/>
            <a:ext cx="3886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安全升级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87400" y="4775200"/>
            <a:ext cx="3886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降低人为因素导致的漏检，提升航空安全。</a:t>
            </a:r>
            <a:endParaRPr lang="en-US" sz="16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605" y="1228725"/>
            <a:ext cx="6443980" cy="42551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rgbClr val="F3F4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59688"/>
            <a:ext cx="12192635" cy="59831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23850" y="429895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调试过程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95020" y="887095"/>
            <a:ext cx="10163810" cy="4390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304800" algn="just" defTabSz="266700">
              <a:lnSpc>
                <a:spcPct val="150000"/>
              </a:lnSpc>
              <a:spcAft>
                <a:spcPts val="700"/>
              </a:spcAft>
              <a:buClrTx/>
              <a:buSzTx/>
              <a:buNone/>
            </a:pPr>
            <a:endParaRPr lang="en-US" dirty="0">
              <a:solidFill>
                <a:srgbClr val="4A4A4A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9CC935-5948-59A9-3AD7-93C4805A54A6}"/>
              </a:ext>
            </a:extLst>
          </p:cNvPr>
          <p:cNvSpPr txBox="1"/>
          <p:nvPr/>
        </p:nvSpPr>
        <p:spPr>
          <a:xfrm>
            <a:off x="846668" y="976489"/>
            <a:ext cx="4927600" cy="1440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模型训练过程：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分别训练轮次为：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轮、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轮</a:t>
            </a:r>
          </a:p>
          <a:p>
            <a:pPr indent="30480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以下图片对比均是前为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轮、后为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300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7A7725-DEB5-EC4D-847C-D92508D6B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15" y="2506021"/>
            <a:ext cx="4349293" cy="3263227"/>
          </a:xfrm>
          <a:prstGeom prst="rect">
            <a:avLst/>
          </a:prstGeom>
          <a:effectLst>
            <a:glow rad="127000">
              <a:schemeClr val="accent3"/>
            </a:glo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2E41F6C-D9CF-3DF7-9F6F-E1ACB88F00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2046" y="2441147"/>
            <a:ext cx="4349293" cy="326322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BC13188-BA99-D3DF-D3E3-C58C5BA29AF3}"/>
              </a:ext>
            </a:extLst>
          </p:cNvPr>
          <p:cNvSpPr txBox="1"/>
          <p:nvPr/>
        </p:nvSpPr>
        <p:spPr>
          <a:xfrm>
            <a:off x="9911644" y="2641600"/>
            <a:ext cx="19565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/>
              <a:t>从</a:t>
            </a:r>
            <a:r>
              <a:rPr lang="en-US" altLang="zh-CN"/>
              <a:t>200</a:t>
            </a:r>
            <a:r>
              <a:rPr lang="zh-CN" altLang="zh-CN"/>
              <a:t>轮增加到</a:t>
            </a:r>
            <a:r>
              <a:rPr lang="en-US" altLang="zh-CN"/>
              <a:t>300</a:t>
            </a:r>
            <a:r>
              <a:rPr lang="zh-CN" altLang="zh-CN"/>
              <a:t>轮训练后，模型整体性能有</a:t>
            </a:r>
            <a:r>
              <a:rPr lang="en-US" altLang="zh-CN"/>
              <a:t>​</a:t>
            </a:r>
            <a:r>
              <a:rPr lang="en-US" altLang="zh-CN" b="1"/>
              <a:t>​</a:t>
            </a:r>
            <a:r>
              <a:rPr lang="zh-CN" altLang="zh-CN" b="1"/>
              <a:t>显著提升</a:t>
            </a:r>
            <a:r>
              <a:rPr lang="en-US" altLang="zh-CN" b="1"/>
              <a:t>​</a:t>
            </a:r>
            <a:r>
              <a:rPr lang="en-US" altLang="zh-CN"/>
              <a:t>​</a:t>
            </a:r>
            <a:r>
              <a:rPr lang="zh-CN" altLang="zh-CN"/>
              <a:t>。主要体现在</a:t>
            </a:r>
            <a:r>
              <a:rPr lang="en-US" altLang="zh-CN"/>
              <a:t>​</a:t>
            </a:r>
            <a:r>
              <a:rPr lang="en-US" altLang="zh-CN" b="1"/>
              <a:t>​</a:t>
            </a:r>
            <a:r>
              <a:rPr lang="zh-CN" altLang="zh-CN" b="1"/>
              <a:t>绝大多数类别的识别准确率提高</a:t>
            </a:r>
            <a:r>
              <a:rPr lang="en-US" altLang="zh-CN" b="1"/>
              <a:t>​</a:t>
            </a:r>
            <a:r>
              <a:rPr lang="en-US" altLang="zh-CN"/>
              <a:t>​</a:t>
            </a:r>
            <a:r>
              <a:rPr lang="zh-CN" altLang="zh-CN"/>
              <a:t>以及</a:t>
            </a:r>
            <a:r>
              <a:rPr lang="en-US" altLang="zh-CN"/>
              <a:t>​</a:t>
            </a:r>
            <a:r>
              <a:rPr lang="en-US" altLang="zh-CN" b="1"/>
              <a:t>​</a:t>
            </a:r>
            <a:r>
              <a:rPr lang="zh-CN" altLang="zh-CN" b="1"/>
              <a:t>各类别之间的混淆情况减少</a:t>
            </a:r>
            <a:r>
              <a:rPr lang="en-US" altLang="zh-CN" b="1"/>
              <a:t>​</a:t>
            </a:r>
            <a:r>
              <a:rPr lang="en-US" altLang="zh-CN"/>
              <a:t>​</a:t>
            </a:r>
            <a:r>
              <a:rPr lang="zh-CN" altLang="zh-CN"/>
              <a:t>。模型变得更加稳定和可靠。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rgbClr val="F3F4F6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BDEBD-34A9-7384-B61B-FDADCF64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
            <a:extLst>
              <a:ext uri="{FF2B5EF4-FFF2-40B4-BE49-F238E27FC236}">
                <a16:creationId xmlns:a16="http://schemas.microsoft.com/office/drawing/2014/main" id="{36FB9596-DF8E-E001-C796-0962A90DC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
            <a:extLst>
              <a:ext uri="{FF2B5EF4-FFF2-40B4-BE49-F238E27FC236}">
                <a16:creationId xmlns:a16="http://schemas.microsoft.com/office/drawing/2014/main" id="{F9E5CC5B-5628-08B7-A3BC-F786FDADA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68E1DB1-4A32-C292-70C7-7D1611623B28}"/>
              </a:ext>
            </a:extLst>
          </p:cNvPr>
          <p:cNvSpPr txBox="1"/>
          <p:nvPr/>
        </p:nvSpPr>
        <p:spPr>
          <a:xfrm>
            <a:off x="474134" y="575733"/>
            <a:ext cx="5063066" cy="46462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b="1" dirty="0"/>
              <a:t>F1</a:t>
            </a:r>
            <a:r>
              <a:rPr lang="zh-CN" altLang="zh-CN" b="1" dirty="0"/>
              <a:t>分数对比</a:t>
            </a:r>
            <a:r>
              <a:rPr lang="en-US" altLang="zh-CN" b="1" dirty="0"/>
              <a:t> (</a:t>
            </a:r>
            <a:r>
              <a:rPr lang="zh-CN" altLang="zh-CN" b="1" dirty="0"/>
              <a:t>衡量模型整体准确性的关键指标</a:t>
            </a:r>
            <a:r>
              <a:rPr lang="en-US" altLang="zh-CN" b="1" dirty="0"/>
              <a:t>)</a:t>
            </a:r>
            <a:endParaRPr lang="zh-CN" altLang="zh-CN" dirty="0"/>
          </a:p>
          <a:p>
            <a:r>
              <a:rPr lang="zh-CN" altLang="en-US" b="1" dirty="0"/>
              <a:t>训练</a:t>
            </a:r>
            <a:r>
              <a:rPr lang="en-US" altLang="zh-CN" b="1" dirty="0"/>
              <a:t>200</a:t>
            </a:r>
            <a:r>
              <a:rPr lang="zh-CN" altLang="zh-CN" b="1" dirty="0"/>
              <a:t>轮</a:t>
            </a:r>
            <a:r>
              <a:rPr lang="zh-CN" altLang="en-US" b="1" dirty="0"/>
              <a:t>以后的</a:t>
            </a:r>
            <a:r>
              <a:rPr lang="zh-CN" altLang="zh-CN" b="1" dirty="0"/>
              <a:t>模型 </a:t>
            </a:r>
            <a:r>
              <a:rPr lang="en-US" altLang="zh-CN" b="1" dirty="0"/>
              <a:t>​​:</a:t>
            </a:r>
          </a:p>
          <a:p>
            <a:r>
              <a:rPr lang="zh-CN" altLang="zh-CN" b="1" dirty="0"/>
              <a:t>整体</a:t>
            </a:r>
            <a:r>
              <a:rPr lang="en-US" altLang="zh-CN" b="1" dirty="0"/>
              <a:t>F1</a:t>
            </a:r>
            <a:r>
              <a:rPr lang="zh-CN" altLang="zh-CN" b="1" dirty="0"/>
              <a:t>分数</a:t>
            </a:r>
            <a:r>
              <a:rPr lang="en-US" altLang="zh-CN" b="1" dirty="0"/>
              <a:t>​​</a:t>
            </a:r>
            <a:r>
              <a:rPr lang="zh-CN" altLang="zh-CN" b="1" dirty="0"/>
              <a:t>：在置信度为 </a:t>
            </a:r>
            <a:r>
              <a:rPr lang="en-US" altLang="zh-CN" b="1" dirty="0"/>
              <a:t>​​0.366​​ </a:t>
            </a:r>
            <a:r>
              <a:rPr lang="zh-CN" altLang="zh-CN" b="1" dirty="0"/>
              <a:t>时达到最高，值为 </a:t>
            </a:r>
            <a:r>
              <a:rPr lang="en-US" altLang="zh-CN" b="1" dirty="0"/>
              <a:t>​​0.57​​</a:t>
            </a:r>
            <a:r>
              <a:rPr lang="zh-CN" altLang="zh-CN" b="1" dirty="0"/>
              <a:t>。</a:t>
            </a:r>
            <a:endParaRPr lang="zh-CN" altLang="zh-CN" dirty="0"/>
          </a:p>
          <a:p>
            <a:endParaRPr lang="zh-CN" altLang="zh-CN" dirty="0"/>
          </a:p>
          <a:p>
            <a:pPr marL="0" indent="304800" algn="just" defTabSz="266700">
              <a:lnSpc>
                <a:spcPct val="150000"/>
              </a:lnSpc>
              <a:spcAft>
                <a:spcPts val="700"/>
              </a:spcAft>
              <a:buClrTx/>
              <a:buSzTx/>
              <a:buNone/>
            </a:pPr>
            <a:endParaRPr lang="en-US" dirty="0">
              <a:solidFill>
                <a:srgbClr val="4A4A4A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57F10D-1B81-1239-B341-86E9CB6F0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18" y="1854301"/>
            <a:ext cx="5273497" cy="35176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87C382-57BE-9784-F25B-83EF9B5800FE}"/>
              </a:ext>
            </a:extLst>
          </p:cNvPr>
          <p:cNvSpPr txBox="1"/>
          <p:nvPr/>
        </p:nvSpPr>
        <p:spPr>
          <a:xfrm>
            <a:off x="6502399" y="620375"/>
            <a:ext cx="5254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训练</a:t>
            </a:r>
            <a:r>
              <a:rPr lang="en-US" altLang="zh-CN" b="1" dirty="0"/>
              <a:t>300</a:t>
            </a:r>
            <a:r>
              <a:rPr lang="zh-CN" altLang="zh-CN" b="1" dirty="0"/>
              <a:t>轮</a:t>
            </a:r>
            <a:r>
              <a:rPr lang="zh-CN" altLang="en-US" b="1" dirty="0"/>
              <a:t>以后的</a:t>
            </a:r>
            <a:r>
              <a:rPr lang="zh-CN" altLang="zh-CN" b="1" dirty="0"/>
              <a:t>模型</a:t>
            </a:r>
            <a:r>
              <a:rPr lang="en-US" altLang="zh-CN" b="1" dirty="0"/>
              <a:t> :</a:t>
            </a:r>
            <a:endParaRPr lang="zh-CN" altLang="zh-CN" dirty="0"/>
          </a:p>
          <a:p>
            <a:r>
              <a:rPr lang="zh-CN" altLang="zh-CN" b="1" dirty="0"/>
              <a:t>整体</a:t>
            </a:r>
            <a:r>
              <a:rPr lang="en-US" altLang="zh-CN" b="1" dirty="0"/>
              <a:t>F1</a:t>
            </a:r>
            <a:r>
              <a:rPr lang="zh-CN" altLang="zh-CN" b="1" dirty="0"/>
              <a:t>分数</a:t>
            </a:r>
            <a:r>
              <a:rPr lang="en-US" altLang="zh-CN" b="1" dirty="0"/>
              <a:t>​​</a:t>
            </a:r>
            <a:r>
              <a:rPr lang="zh-CN" altLang="zh-CN" b="1" dirty="0"/>
              <a:t>：在置信度为 </a:t>
            </a:r>
            <a:r>
              <a:rPr lang="en-US" altLang="zh-CN" b="1" dirty="0"/>
              <a:t>​​0.443​​ </a:t>
            </a:r>
            <a:r>
              <a:rPr lang="zh-CN" altLang="zh-CN" b="1" dirty="0"/>
              <a:t>时达到最高，值为 </a:t>
            </a:r>
            <a:r>
              <a:rPr lang="en-US" altLang="zh-CN" b="1" dirty="0"/>
              <a:t>​​0.61​​</a:t>
            </a:r>
            <a:r>
              <a:rPr lang="zh-CN" altLang="zh-CN" b="1" dirty="0"/>
              <a:t>。</a:t>
            </a:r>
            <a:endParaRPr lang="zh-CN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D1A2D1-DBAB-A9A9-0E84-D27392862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145" y="1704261"/>
            <a:ext cx="5273497" cy="351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45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旅客视角业务流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15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268222B-A471-0109-53B2-3E1A3FB208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500" y="228599"/>
            <a:ext cx="8362576" cy="61860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F3775-5820-51E2-3612-3697F2EB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
            <a:extLst>
              <a:ext uri="{FF2B5EF4-FFF2-40B4-BE49-F238E27FC236}">
                <a16:creationId xmlns:a16="http://schemas.microsoft.com/office/drawing/2014/main" id="{C20CADE5-BB3B-51C7-1BF7-C6B4BFCB5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
            <a:extLst>
              <a:ext uri="{FF2B5EF4-FFF2-40B4-BE49-F238E27FC236}">
                <a16:creationId xmlns:a16="http://schemas.microsoft.com/office/drawing/2014/main" id="{B11B3A6A-037E-9531-F8D1-E537A70E0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E418E9F-0279-EE8E-86C7-646452D5392D}"/>
              </a:ext>
            </a:extLst>
          </p:cNvPr>
          <p:cNvSpPr/>
          <p:nvPr/>
        </p:nvSpPr>
        <p:spPr>
          <a:xfrm>
            <a:off x="0" y="1981200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多端联调与日志追踪体系</a:t>
            </a:r>
            <a:endParaRPr lang="en-US" sz="16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235F4B2-AA11-4DE5-01F2-BE428D14CCD1}"/>
              </a:ext>
            </a:extLst>
          </p:cNvPr>
          <p:cNvSpPr/>
          <p:nvPr/>
        </p:nvSpPr>
        <p:spPr>
          <a:xfrm>
            <a:off x="254000" y="2844800"/>
            <a:ext cx="3695700" cy="2032000"/>
          </a:xfrm>
          <a:custGeom>
            <a:avLst/>
            <a:gdLst/>
            <a:ahLst/>
            <a:cxnLst/>
            <a:rect l="l" t="t" r="r" b="b"/>
            <a:pathLst>
              <a:path w="3695700" h="2032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1930400"/>
                </a:lnTo>
                <a:cubicBezTo>
                  <a:pt x="3695700" y="1986475"/>
                  <a:pt x="3650175" y="2032000"/>
                  <a:pt x="35941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D44580C-A63E-8568-56D8-4CFB736B32B9}"/>
              </a:ext>
            </a:extLst>
          </p:cNvPr>
          <p:cNvSpPr/>
          <p:nvPr/>
        </p:nvSpPr>
        <p:spPr>
          <a:xfrm>
            <a:off x="203200" y="3708400"/>
            <a:ext cx="379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前端调试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FCBB06E0-2F26-590A-BB46-06876C29CFF2}"/>
              </a:ext>
            </a:extLst>
          </p:cNvPr>
          <p:cNvSpPr/>
          <p:nvPr/>
        </p:nvSpPr>
        <p:spPr>
          <a:xfrm>
            <a:off x="457200" y="4165600"/>
            <a:ext cx="3289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Chrome DevTools + Uni-App真机调试，监控网络与兼容性问题。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F42ABAB-5F86-909C-DE7C-C926EA2C730E}"/>
              </a:ext>
            </a:extLst>
          </p:cNvPr>
          <p:cNvSpPr/>
          <p:nvPr/>
        </p:nvSpPr>
        <p:spPr>
          <a:xfrm>
            <a:off x="8246534" y="2844800"/>
            <a:ext cx="3695700" cy="2032000"/>
          </a:xfrm>
          <a:custGeom>
            <a:avLst/>
            <a:gdLst/>
            <a:ahLst/>
            <a:cxnLst/>
            <a:rect l="l" t="t" r="r" b="b"/>
            <a:pathLst>
              <a:path w="3695700" h="2032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1930400"/>
                </a:lnTo>
                <a:cubicBezTo>
                  <a:pt x="3695700" y="1986475"/>
                  <a:pt x="3650175" y="2032000"/>
                  <a:pt x="3594100" y="2032000"/>
                </a:cubicBezTo>
                <a:lnTo>
                  <a:pt x="101600" y="2032000"/>
                </a:lnTo>
                <a:cubicBezTo>
                  <a:pt x="45525" y="2032000"/>
                  <a:pt x="0" y="1986475"/>
                  <a:pt x="0" y="1930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8D0F5">
              <a:alpha val="30196"/>
            </a:srgbClr>
          </a:solidFill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A1FCBD4-3398-6A3A-8AEC-64EBCFAB8981}"/>
              </a:ext>
            </a:extLst>
          </p:cNvPr>
          <p:cNvSpPr/>
          <p:nvPr/>
        </p:nvSpPr>
        <p:spPr>
          <a:xfrm>
            <a:off x="9892242" y="3073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-28575"/>
                </a:moveTo>
                <a:cubicBezTo>
                  <a:pt x="130106" y="-28575"/>
                  <a:pt x="142875" y="-15806"/>
                  <a:pt x="142875" y="0"/>
                </a:cubicBezTo>
                <a:lnTo>
                  <a:pt x="142875" y="85725"/>
                </a:lnTo>
                <a:lnTo>
                  <a:pt x="257175" y="85725"/>
                </a:lnTo>
                <a:lnTo>
                  <a:pt x="257175" y="0"/>
                </a:lnTo>
                <a:cubicBezTo>
                  <a:pt x="257175" y="-15806"/>
                  <a:pt x="269944" y="-28575"/>
                  <a:pt x="285750" y="-28575"/>
                </a:cubicBezTo>
                <a:cubicBezTo>
                  <a:pt x="301556" y="-28575"/>
                  <a:pt x="314325" y="-15806"/>
                  <a:pt x="314325" y="0"/>
                </a:cubicBezTo>
                <a:lnTo>
                  <a:pt x="314325" y="85725"/>
                </a:ln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cubicBezTo>
                  <a:pt x="400050" y="130106"/>
                  <a:pt x="387281" y="142875"/>
                  <a:pt x="371475" y="142875"/>
                </a:cubicBezTo>
                <a:lnTo>
                  <a:pt x="371475" y="200025"/>
                </a:lnTo>
                <a:cubicBezTo>
                  <a:pt x="371475" y="284946"/>
                  <a:pt x="309682" y="355491"/>
                  <a:pt x="228600" y="369064"/>
                </a:cubicBezTo>
                <a:lnTo>
                  <a:pt x="228600" y="428625"/>
                </a:lnTo>
                <a:cubicBezTo>
                  <a:pt x="228600" y="444431"/>
                  <a:pt x="215831" y="457200"/>
                  <a:pt x="200025" y="457200"/>
                </a:cubicBezTo>
                <a:cubicBezTo>
                  <a:pt x="184219" y="457200"/>
                  <a:pt x="171450" y="444431"/>
                  <a:pt x="171450" y="428625"/>
                </a:cubicBezTo>
                <a:lnTo>
                  <a:pt x="171450" y="369064"/>
                </a:lnTo>
                <a:cubicBezTo>
                  <a:pt x="90368" y="355491"/>
                  <a:pt x="28575" y="284946"/>
                  <a:pt x="28575" y="20002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lnTo>
                  <a:pt x="85725" y="0"/>
                </a:lnTo>
                <a:cubicBezTo>
                  <a:pt x="85725" y="-15806"/>
                  <a:pt x="98494" y="-28575"/>
                  <a:pt x="114300" y="-28575"/>
                </a:cubicBezTo>
                <a:close/>
              </a:path>
            </a:pathLst>
          </a:custGeom>
          <a:solidFill>
            <a:srgbClr val="3A7BD5"/>
          </a:solidFill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A5B78D4-E44E-F058-43C2-70503D01437D}"/>
              </a:ext>
            </a:extLst>
          </p:cNvPr>
          <p:cNvSpPr/>
          <p:nvPr/>
        </p:nvSpPr>
        <p:spPr>
          <a:xfrm>
            <a:off x="8195734" y="3708400"/>
            <a:ext cx="3797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040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API联调</a:t>
            </a:r>
            <a:endParaRPr lang="en-US" sz="16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7AC5E85-1A94-0FB8-BB50-E0AFC7C0E3C4}"/>
              </a:ext>
            </a:extLst>
          </p:cNvPr>
          <p:cNvSpPr/>
          <p:nvPr/>
        </p:nvSpPr>
        <p:spPr>
          <a:xfrm>
            <a:off x="8449734" y="4165600"/>
            <a:ext cx="32893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引入Apifox进行契约测试，结合ELK栈实现生产环境日志分钟级告警。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78938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7557F-6F7E-A7C8-861E-A7E3CE7C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rg.png">
            <a:extLst>
              <a:ext uri="{FF2B5EF4-FFF2-40B4-BE49-F238E27FC236}">
                <a16:creationId xmlns:a16="http://schemas.microsoft.com/office/drawing/2014/main" id="{7AAE278E-CD9E-034C-A2A5-21CDA666D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29895"/>
            <a:ext cx="579755" cy="65214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41-d2v63jdnfo2stf9dk4q0.png">
            <a:extLst>
              <a:ext uri="{FF2B5EF4-FFF2-40B4-BE49-F238E27FC236}">
                <a16:creationId xmlns:a16="http://schemas.microsoft.com/office/drawing/2014/main" id="{67968B93-79E3-4EBC-D7BD-D11D428A4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D2CD2A1-40BE-9C28-C671-CED3C3962978}"/>
              </a:ext>
            </a:extLst>
          </p:cNvPr>
          <p:cNvSpPr/>
          <p:nvPr/>
        </p:nvSpPr>
        <p:spPr>
          <a:xfrm>
            <a:off x="-144145" y="527685"/>
            <a:ext cx="1219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zh-CN" altLang="en-US" sz="3000" dirty="0">
              <a:solidFill>
                <a:srgbClr val="00408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矩形: 圆角 50">
            <a:extLst>
              <a:ext uri="{FF2B5EF4-FFF2-40B4-BE49-F238E27FC236}">
                <a16:creationId xmlns:a16="http://schemas.microsoft.com/office/drawing/2014/main" id="{04434974-9737-6E13-5149-5952979EC1E3}"/>
              </a:ext>
            </a:extLst>
          </p:cNvPr>
          <p:cNvSpPr/>
          <p:nvPr/>
        </p:nvSpPr>
        <p:spPr>
          <a:xfrm>
            <a:off x="883708" y="806824"/>
            <a:ext cx="1775370" cy="2622176"/>
          </a:xfrm>
          <a:prstGeom prst="roundRect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07270A-4CBA-737E-7793-1C944B576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888" y="892663"/>
            <a:ext cx="1309010" cy="2200161"/>
          </a:xfrm>
          <a:prstGeom prst="rect">
            <a:avLst/>
          </a:prstGeom>
        </p:spPr>
      </p:pic>
      <p:sp>
        <p:nvSpPr>
          <p:cNvPr id="7" name="图形 57" descr="箭头: 轻微弯曲 纯色填充">
            <a:extLst>
              <a:ext uri="{FF2B5EF4-FFF2-40B4-BE49-F238E27FC236}">
                <a16:creationId xmlns:a16="http://schemas.microsoft.com/office/drawing/2014/main" id="{892D0AD6-9188-30A7-4EAF-D99820769654}"/>
              </a:ext>
            </a:extLst>
          </p:cNvPr>
          <p:cNvSpPr/>
          <p:nvPr/>
        </p:nvSpPr>
        <p:spPr>
          <a:xfrm>
            <a:off x="2691132" y="1749742"/>
            <a:ext cx="838226" cy="457200"/>
          </a:xfrm>
          <a:custGeom>
            <a:avLst/>
            <a:gdLst>
              <a:gd name="connsiteX0" fmla="*/ 838200 w 838226"/>
              <a:gd name="connsiteY0" fmla="*/ 228600 h 457200"/>
              <a:gd name="connsiteX1" fmla="*/ 609600 w 838226"/>
              <a:gd name="connsiteY1" fmla="*/ 0 h 457200"/>
              <a:gd name="connsiteX2" fmla="*/ 609600 w 838226"/>
              <a:gd name="connsiteY2" fmla="*/ 142875 h 457200"/>
              <a:gd name="connsiteX3" fmla="*/ 0 w 838226"/>
              <a:gd name="connsiteY3" fmla="*/ 142875 h 457200"/>
              <a:gd name="connsiteX4" fmla="*/ 609600 w 838226"/>
              <a:gd name="connsiteY4" fmla="*/ 361950 h 457200"/>
              <a:gd name="connsiteX5" fmla="*/ 609600 w 838226"/>
              <a:gd name="connsiteY5" fmla="*/ 457200 h 457200"/>
              <a:gd name="connsiteX6" fmla="*/ 838200 w 838226"/>
              <a:gd name="connsiteY6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6" h="457200">
                <a:moveTo>
                  <a:pt x="838200" y="228600"/>
                </a:moveTo>
                <a:cubicBezTo>
                  <a:pt x="841058" y="228600"/>
                  <a:pt x="609600" y="0"/>
                  <a:pt x="609600" y="0"/>
                </a:cubicBezTo>
                <a:lnTo>
                  <a:pt x="609600" y="142875"/>
                </a:lnTo>
                <a:cubicBezTo>
                  <a:pt x="458153" y="211455"/>
                  <a:pt x="0" y="142875"/>
                  <a:pt x="0" y="142875"/>
                </a:cubicBezTo>
                <a:cubicBezTo>
                  <a:pt x="0" y="142875"/>
                  <a:pt x="324803" y="391478"/>
                  <a:pt x="609600" y="361950"/>
                </a:cubicBezTo>
                <a:lnTo>
                  <a:pt x="609600" y="457200"/>
                </a:lnTo>
                <a:lnTo>
                  <a:pt x="838200" y="228600"/>
                </a:lnTo>
                <a:close/>
              </a:path>
            </a:pathLst>
          </a:cu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: 圆角 50">
            <a:extLst>
              <a:ext uri="{FF2B5EF4-FFF2-40B4-BE49-F238E27FC236}">
                <a16:creationId xmlns:a16="http://schemas.microsoft.com/office/drawing/2014/main" id="{E7F920F4-4185-5E10-6D60-0082A497987C}"/>
              </a:ext>
            </a:extLst>
          </p:cNvPr>
          <p:cNvSpPr/>
          <p:nvPr/>
        </p:nvSpPr>
        <p:spPr>
          <a:xfrm>
            <a:off x="3783100" y="808598"/>
            <a:ext cx="1717291" cy="2620402"/>
          </a:xfrm>
          <a:prstGeom prst="roundRect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C0EAC77-FE12-00C9-224D-E0429F198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842" y="984885"/>
            <a:ext cx="1424915" cy="2328190"/>
          </a:xfrm>
          <a:prstGeom prst="rect">
            <a:avLst/>
          </a:prstGeom>
        </p:spPr>
      </p:pic>
      <p:sp>
        <p:nvSpPr>
          <p:cNvPr id="10" name="图形 57" descr="箭头: 轻微弯曲 纯色填充">
            <a:extLst>
              <a:ext uri="{FF2B5EF4-FFF2-40B4-BE49-F238E27FC236}">
                <a16:creationId xmlns:a16="http://schemas.microsoft.com/office/drawing/2014/main" id="{BE4DD155-C05C-9F56-0835-E4F51495802E}"/>
              </a:ext>
            </a:extLst>
          </p:cNvPr>
          <p:cNvSpPr/>
          <p:nvPr/>
        </p:nvSpPr>
        <p:spPr>
          <a:xfrm>
            <a:off x="5564499" y="1810255"/>
            <a:ext cx="838226" cy="457200"/>
          </a:xfrm>
          <a:custGeom>
            <a:avLst/>
            <a:gdLst>
              <a:gd name="connsiteX0" fmla="*/ 838200 w 838226"/>
              <a:gd name="connsiteY0" fmla="*/ 228600 h 457200"/>
              <a:gd name="connsiteX1" fmla="*/ 609600 w 838226"/>
              <a:gd name="connsiteY1" fmla="*/ 0 h 457200"/>
              <a:gd name="connsiteX2" fmla="*/ 609600 w 838226"/>
              <a:gd name="connsiteY2" fmla="*/ 142875 h 457200"/>
              <a:gd name="connsiteX3" fmla="*/ 0 w 838226"/>
              <a:gd name="connsiteY3" fmla="*/ 142875 h 457200"/>
              <a:gd name="connsiteX4" fmla="*/ 609600 w 838226"/>
              <a:gd name="connsiteY4" fmla="*/ 361950 h 457200"/>
              <a:gd name="connsiteX5" fmla="*/ 609600 w 838226"/>
              <a:gd name="connsiteY5" fmla="*/ 457200 h 457200"/>
              <a:gd name="connsiteX6" fmla="*/ 838200 w 838226"/>
              <a:gd name="connsiteY6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6" h="457200">
                <a:moveTo>
                  <a:pt x="838200" y="228600"/>
                </a:moveTo>
                <a:cubicBezTo>
                  <a:pt x="841058" y="228600"/>
                  <a:pt x="609600" y="0"/>
                  <a:pt x="609600" y="0"/>
                </a:cubicBezTo>
                <a:lnTo>
                  <a:pt x="609600" y="142875"/>
                </a:lnTo>
                <a:cubicBezTo>
                  <a:pt x="458153" y="211455"/>
                  <a:pt x="0" y="142875"/>
                  <a:pt x="0" y="142875"/>
                </a:cubicBezTo>
                <a:cubicBezTo>
                  <a:pt x="0" y="142875"/>
                  <a:pt x="324803" y="391478"/>
                  <a:pt x="609600" y="361950"/>
                </a:cubicBezTo>
                <a:lnTo>
                  <a:pt x="609600" y="457200"/>
                </a:lnTo>
                <a:lnTo>
                  <a:pt x="838200" y="228600"/>
                </a:lnTo>
                <a:close/>
              </a:path>
            </a:pathLst>
          </a:cu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: 圆角 50">
            <a:extLst>
              <a:ext uri="{FF2B5EF4-FFF2-40B4-BE49-F238E27FC236}">
                <a16:creationId xmlns:a16="http://schemas.microsoft.com/office/drawing/2014/main" id="{B51C221C-8BE1-E288-861D-C6CF88B61847}"/>
              </a:ext>
            </a:extLst>
          </p:cNvPr>
          <p:cNvSpPr/>
          <p:nvPr/>
        </p:nvSpPr>
        <p:spPr>
          <a:xfrm>
            <a:off x="6466833" y="806824"/>
            <a:ext cx="1836726" cy="2508082"/>
          </a:xfrm>
          <a:prstGeom prst="roundRect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B8F459B-652E-E01F-F27D-2B8095DE43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9181" y="808597"/>
            <a:ext cx="1567987" cy="2488827"/>
          </a:xfrm>
          <a:prstGeom prst="rect">
            <a:avLst/>
          </a:prstGeom>
        </p:spPr>
      </p:pic>
      <p:sp>
        <p:nvSpPr>
          <p:cNvPr id="13" name="图形 57" descr="箭头: 轻微弯曲 纯色填充">
            <a:extLst>
              <a:ext uri="{FF2B5EF4-FFF2-40B4-BE49-F238E27FC236}">
                <a16:creationId xmlns:a16="http://schemas.microsoft.com/office/drawing/2014/main" id="{3E793B0F-02B5-5414-F9F0-1442DBE1F303}"/>
              </a:ext>
            </a:extLst>
          </p:cNvPr>
          <p:cNvSpPr/>
          <p:nvPr/>
        </p:nvSpPr>
        <p:spPr>
          <a:xfrm>
            <a:off x="175882" y="4633090"/>
            <a:ext cx="838226" cy="457200"/>
          </a:xfrm>
          <a:custGeom>
            <a:avLst/>
            <a:gdLst>
              <a:gd name="connsiteX0" fmla="*/ 838200 w 838226"/>
              <a:gd name="connsiteY0" fmla="*/ 228600 h 457200"/>
              <a:gd name="connsiteX1" fmla="*/ 609600 w 838226"/>
              <a:gd name="connsiteY1" fmla="*/ 0 h 457200"/>
              <a:gd name="connsiteX2" fmla="*/ 609600 w 838226"/>
              <a:gd name="connsiteY2" fmla="*/ 142875 h 457200"/>
              <a:gd name="connsiteX3" fmla="*/ 0 w 838226"/>
              <a:gd name="connsiteY3" fmla="*/ 142875 h 457200"/>
              <a:gd name="connsiteX4" fmla="*/ 609600 w 838226"/>
              <a:gd name="connsiteY4" fmla="*/ 361950 h 457200"/>
              <a:gd name="connsiteX5" fmla="*/ 609600 w 838226"/>
              <a:gd name="connsiteY5" fmla="*/ 457200 h 457200"/>
              <a:gd name="connsiteX6" fmla="*/ 838200 w 838226"/>
              <a:gd name="connsiteY6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6" h="457200">
                <a:moveTo>
                  <a:pt x="838200" y="228600"/>
                </a:moveTo>
                <a:cubicBezTo>
                  <a:pt x="841058" y="228600"/>
                  <a:pt x="609600" y="0"/>
                  <a:pt x="609600" y="0"/>
                </a:cubicBezTo>
                <a:lnTo>
                  <a:pt x="609600" y="142875"/>
                </a:lnTo>
                <a:cubicBezTo>
                  <a:pt x="458153" y="211455"/>
                  <a:pt x="0" y="142875"/>
                  <a:pt x="0" y="142875"/>
                </a:cubicBezTo>
                <a:cubicBezTo>
                  <a:pt x="0" y="142875"/>
                  <a:pt x="324803" y="391478"/>
                  <a:pt x="609600" y="361950"/>
                </a:cubicBezTo>
                <a:lnTo>
                  <a:pt x="609600" y="457200"/>
                </a:lnTo>
                <a:lnTo>
                  <a:pt x="838200" y="228600"/>
                </a:lnTo>
                <a:close/>
              </a:path>
            </a:pathLst>
          </a:cu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: 圆角 50">
            <a:extLst>
              <a:ext uri="{FF2B5EF4-FFF2-40B4-BE49-F238E27FC236}">
                <a16:creationId xmlns:a16="http://schemas.microsoft.com/office/drawing/2014/main" id="{059D2D71-7537-C449-94F7-0D19BDFD9433}"/>
              </a:ext>
            </a:extLst>
          </p:cNvPr>
          <p:cNvSpPr/>
          <p:nvPr/>
        </p:nvSpPr>
        <p:spPr>
          <a:xfrm>
            <a:off x="1116887" y="3714830"/>
            <a:ext cx="1727165" cy="2543524"/>
          </a:xfrm>
          <a:prstGeom prst="roundRect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6F051CE-460F-6A0C-720A-B145A0F0B5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952" y="3814239"/>
            <a:ext cx="1409033" cy="2311369"/>
          </a:xfrm>
          <a:prstGeom prst="rect">
            <a:avLst/>
          </a:prstGeom>
        </p:spPr>
      </p:pic>
      <p:sp>
        <p:nvSpPr>
          <p:cNvPr id="16" name="图形 57" descr="箭头: 轻微弯曲 纯色填充">
            <a:extLst>
              <a:ext uri="{FF2B5EF4-FFF2-40B4-BE49-F238E27FC236}">
                <a16:creationId xmlns:a16="http://schemas.microsoft.com/office/drawing/2014/main" id="{216F5ACC-4E5F-85B9-CB3A-CD2B46391AA9}"/>
              </a:ext>
            </a:extLst>
          </p:cNvPr>
          <p:cNvSpPr/>
          <p:nvPr/>
        </p:nvSpPr>
        <p:spPr>
          <a:xfrm>
            <a:off x="2944874" y="4757992"/>
            <a:ext cx="838226" cy="457200"/>
          </a:xfrm>
          <a:custGeom>
            <a:avLst/>
            <a:gdLst>
              <a:gd name="connsiteX0" fmla="*/ 838200 w 838226"/>
              <a:gd name="connsiteY0" fmla="*/ 228600 h 457200"/>
              <a:gd name="connsiteX1" fmla="*/ 609600 w 838226"/>
              <a:gd name="connsiteY1" fmla="*/ 0 h 457200"/>
              <a:gd name="connsiteX2" fmla="*/ 609600 w 838226"/>
              <a:gd name="connsiteY2" fmla="*/ 142875 h 457200"/>
              <a:gd name="connsiteX3" fmla="*/ 0 w 838226"/>
              <a:gd name="connsiteY3" fmla="*/ 142875 h 457200"/>
              <a:gd name="connsiteX4" fmla="*/ 609600 w 838226"/>
              <a:gd name="connsiteY4" fmla="*/ 361950 h 457200"/>
              <a:gd name="connsiteX5" fmla="*/ 609600 w 838226"/>
              <a:gd name="connsiteY5" fmla="*/ 457200 h 457200"/>
              <a:gd name="connsiteX6" fmla="*/ 838200 w 838226"/>
              <a:gd name="connsiteY6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6" h="457200">
                <a:moveTo>
                  <a:pt x="838200" y="228600"/>
                </a:moveTo>
                <a:cubicBezTo>
                  <a:pt x="841058" y="228600"/>
                  <a:pt x="609600" y="0"/>
                  <a:pt x="609600" y="0"/>
                </a:cubicBezTo>
                <a:lnTo>
                  <a:pt x="609600" y="142875"/>
                </a:lnTo>
                <a:cubicBezTo>
                  <a:pt x="458153" y="211455"/>
                  <a:pt x="0" y="142875"/>
                  <a:pt x="0" y="142875"/>
                </a:cubicBezTo>
                <a:cubicBezTo>
                  <a:pt x="0" y="142875"/>
                  <a:pt x="324803" y="391478"/>
                  <a:pt x="609600" y="361950"/>
                </a:cubicBezTo>
                <a:lnTo>
                  <a:pt x="609600" y="457200"/>
                </a:lnTo>
                <a:lnTo>
                  <a:pt x="838200" y="228600"/>
                </a:lnTo>
                <a:close/>
              </a:path>
            </a:pathLst>
          </a:cu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图形 57" descr="箭头: 轻微弯曲 纯色填充">
            <a:extLst>
              <a:ext uri="{FF2B5EF4-FFF2-40B4-BE49-F238E27FC236}">
                <a16:creationId xmlns:a16="http://schemas.microsoft.com/office/drawing/2014/main" id="{FF64E292-1DFC-D52E-7078-55E58F6A3F6F}"/>
              </a:ext>
            </a:extLst>
          </p:cNvPr>
          <p:cNvSpPr/>
          <p:nvPr/>
        </p:nvSpPr>
        <p:spPr>
          <a:xfrm>
            <a:off x="5917677" y="4529392"/>
            <a:ext cx="838226" cy="457200"/>
          </a:xfrm>
          <a:custGeom>
            <a:avLst/>
            <a:gdLst>
              <a:gd name="connsiteX0" fmla="*/ 838200 w 838226"/>
              <a:gd name="connsiteY0" fmla="*/ 228600 h 457200"/>
              <a:gd name="connsiteX1" fmla="*/ 609600 w 838226"/>
              <a:gd name="connsiteY1" fmla="*/ 0 h 457200"/>
              <a:gd name="connsiteX2" fmla="*/ 609600 w 838226"/>
              <a:gd name="connsiteY2" fmla="*/ 142875 h 457200"/>
              <a:gd name="connsiteX3" fmla="*/ 0 w 838226"/>
              <a:gd name="connsiteY3" fmla="*/ 142875 h 457200"/>
              <a:gd name="connsiteX4" fmla="*/ 609600 w 838226"/>
              <a:gd name="connsiteY4" fmla="*/ 361950 h 457200"/>
              <a:gd name="connsiteX5" fmla="*/ 609600 w 838226"/>
              <a:gd name="connsiteY5" fmla="*/ 457200 h 457200"/>
              <a:gd name="connsiteX6" fmla="*/ 838200 w 838226"/>
              <a:gd name="connsiteY6" fmla="*/ 2286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8226" h="457200">
                <a:moveTo>
                  <a:pt x="838200" y="228600"/>
                </a:moveTo>
                <a:cubicBezTo>
                  <a:pt x="841058" y="228600"/>
                  <a:pt x="609600" y="0"/>
                  <a:pt x="609600" y="0"/>
                </a:cubicBezTo>
                <a:lnTo>
                  <a:pt x="609600" y="142875"/>
                </a:lnTo>
                <a:cubicBezTo>
                  <a:pt x="458153" y="211455"/>
                  <a:pt x="0" y="142875"/>
                  <a:pt x="0" y="142875"/>
                </a:cubicBezTo>
                <a:cubicBezTo>
                  <a:pt x="0" y="142875"/>
                  <a:pt x="324803" y="391478"/>
                  <a:pt x="609600" y="361950"/>
                </a:cubicBezTo>
                <a:lnTo>
                  <a:pt x="609600" y="457200"/>
                </a:lnTo>
                <a:lnTo>
                  <a:pt x="838200" y="228600"/>
                </a:lnTo>
                <a:close/>
              </a:path>
            </a:pathLst>
          </a:cu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矩形: 圆角 50">
            <a:extLst>
              <a:ext uri="{FF2B5EF4-FFF2-40B4-BE49-F238E27FC236}">
                <a16:creationId xmlns:a16="http://schemas.microsoft.com/office/drawing/2014/main" id="{96E70F36-EEC7-6229-C855-06C2E827D2FE}"/>
              </a:ext>
            </a:extLst>
          </p:cNvPr>
          <p:cNvSpPr/>
          <p:nvPr/>
        </p:nvSpPr>
        <p:spPr>
          <a:xfrm>
            <a:off x="6871088" y="3609376"/>
            <a:ext cx="1849329" cy="2504628"/>
          </a:xfrm>
          <a:prstGeom prst="roundRect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: 圆角 50">
            <a:extLst>
              <a:ext uri="{FF2B5EF4-FFF2-40B4-BE49-F238E27FC236}">
                <a16:creationId xmlns:a16="http://schemas.microsoft.com/office/drawing/2014/main" id="{79A8FCF0-F288-02C5-2A61-8873BC412339}"/>
              </a:ext>
            </a:extLst>
          </p:cNvPr>
          <p:cNvSpPr/>
          <p:nvPr/>
        </p:nvSpPr>
        <p:spPr>
          <a:xfrm>
            <a:off x="3885842" y="3714830"/>
            <a:ext cx="1727165" cy="2504628"/>
          </a:xfrm>
          <a:prstGeom prst="roundRect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DA9DA7E-B207-05D7-E0AD-F131EC337E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8349" y="3814239"/>
            <a:ext cx="1349206" cy="237874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2C4ACDB-1ED9-0C17-E13A-F7651BCFC3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1196" y="3714830"/>
            <a:ext cx="1376912" cy="225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59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3"/>
          <a:srcRect l="6625" t="8858" r="11055" b="15857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2195830"/>
            <a:ext cx="7026275" cy="1358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88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0890" y="3501390"/>
            <a:ext cx="47167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 FOR 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3600" y="4795520"/>
            <a:ext cx="217932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519170" y="4795520"/>
            <a:ext cx="217932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>
            <a:fillRect/>
          </a:stretch>
        </p:blipFill>
        <p:spPr>
          <a:xfrm>
            <a:off x="7364095" y="1974850"/>
            <a:ext cx="4268470" cy="33235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.6,&quot;left&quot;:272.1,&quot;top&quot;:348.35,&quot;width&quot;:396.9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.6,&quot;left&quot;:272.1,&quot;top&quot;:348.35,&quot;width&quot;:396.9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.6,&quot;left&quot;:272.1,&quot;top&quot;:348.35,&quot;width&quot;:396.9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.6,&quot;left&quot;:272.1,&quot;top&quot;:348.35,&quot;width&quot;:396.9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65,&quot;left&quot;:94.65,&quot;top&quot;:139.95,&quot;width&quot;:560.2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515</Words>
  <Application>Microsoft Office PowerPoint</Application>
  <PresentationFormat>宽屏</PresentationFormat>
  <Paragraphs>123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MiSans</vt:lpstr>
      <vt:lpstr>Times New Roman</vt:lpstr>
      <vt:lpstr>Calibri</vt:lpstr>
      <vt:lpstr>Noto Sans SC</vt:lpstr>
      <vt:lpstr>Arial</vt:lpstr>
      <vt:lpstr>宋体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智慧安检：AI视觉守护旅客行李安全</dc:title>
  <dc:subject>智慧安检：AI视觉守护旅客行李安全</dc:subject>
  <dc:creator>Kimi</dc:creator>
  <cp:lastModifiedBy>klein penelope</cp:lastModifiedBy>
  <cp:revision>6</cp:revision>
  <dcterms:created xsi:type="dcterms:W3CDTF">2025-09-26T05:15:00Z</dcterms:created>
  <dcterms:modified xsi:type="dcterms:W3CDTF">2025-09-28T02:28:36Z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{"Label":"智慧安检：AI视觉守护旅客行李安全","ContentProducer":"001191110108MACG2KBH8F10000","ProduceID":"d3b1r4lnfo2mde50muag","ReservedCode1":"","ContentPropagator":"001191110108MACG2KBH8F20000","PropagateID":"d3b1r4lnfo2mde50muag","ReservedCode2":""}</vt:lpwstr>
  </property>
  <property fmtid="{D5CDD505-2E9C-101B-9397-08002B2CF9AE}" pid="3" name="ICV">
    <vt:lpwstr>F4C5995E129344A79E6B85DA893FD552_13</vt:lpwstr>
  </property>
  <property fmtid="{D5CDD505-2E9C-101B-9397-08002B2CF9AE}" pid="4" name="KSOProductBuildVer">
    <vt:lpwstr>2052-12.1.0.22529</vt:lpwstr>
  </property>
</Properties>
</file>